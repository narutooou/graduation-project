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Barlow Condensed" panose="00000506000000000000" pitchFamily="2" charset="0"/>
      <p:regular r:id="rId24"/>
    </p:embeddedFont>
    <p:embeddedFont>
      <p:font typeface="Barlow Condensed Semi-Bold" panose="020B0604020202020204" charset="0"/>
      <p:regular r:id="rId25"/>
    </p:embeddedFont>
    <p:embeddedFont>
      <p:font typeface="Lora Bold" panose="020B0604020202020204" charset="0"/>
      <p:regular r:id="rId26"/>
    </p:embeddedFont>
    <p:embeddedFont>
      <p:font typeface="Montserrat" panose="00000500000000000000" pitchFamily="2" charset="0"/>
      <p:regular r:id="rId27"/>
    </p:embeddedFont>
    <p:embeddedFont>
      <p:font typeface="Montserrat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jpe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3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0.jpe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7.jpe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0431">
            <a:off x="7460570" y="617220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09"/>
                </a:lnTo>
                <a:lnTo>
                  <a:pt x="0" y="14960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6842143">
            <a:off x="-6727646" y="-5312113"/>
            <a:ext cx="15512693" cy="12681626"/>
          </a:xfrm>
          <a:custGeom>
            <a:avLst/>
            <a:gdLst/>
            <a:ahLst/>
            <a:cxnLst/>
            <a:rect l="l" t="t" r="r" b="b"/>
            <a:pathLst>
              <a:path w="15512693" h="12681626">
                <a:moveTo>
                  <a:pt x="0" y="0"/>
                </a:moveTo>
                <a:lnTo>
                  <a:pt x="15512692" y="0"/>
                </a:lnTo>
                <a:lnTo>
                  <a:pt x="15512692" y="12681626"/>
                </a:lnTo>
                <a:lnTo>
                  <a:pt x="0" y="126816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95715" y="6974420"/>
            <a:ext cx="7838085" cy="4411448"/>
            <a:chOff x="-25209" y="-256688"/>
            <a:chExt cx="2064352" cy="11618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39143" cy="790388"/>
            </a:xfrm>
            <a:custGeom>
              <a:avLst/>
              <a:gdLst/>
              <a:ahLst/>
              <a:cxnLst/>
              <a:rect l="l" t="t" r="r" b="b"/>
              <a:pathLst>
                <a:path w="2039143" h="790388">
                  <a:moveTo>
                    <a:pt x="21999" y="0"/>
                  </a:moveTo>
                  <a:lnTo>
                    <a:pt x="2017144" y="0"/>
                  </a:lnTo>
                  <a:cubicBezTo>
                    <a:pt x="2022978" y="0"/>
                    <a:pt x="2028574" y="2318"/>
                    <a:pt x="2032700" y="6443"/>
                  </a:cubicBezTo>
                  <a:cubicBezTo>
                    <a:pt x="2036825" y="10569"/>
                    <a:pt x="2039143" y="16164"/>
                    <a:pt x="2039143" y="21999"/>
                  </a:cubicBezTo>
                  <a:lnTo>
                    <a:pt x="2039143" y="768389"/>
                  </a:lnTo>
                  <a:cubicBezTo>
                    <a:pt x="2039143" y="780539"/>
                    <a:pt x="2029294" y="790388"/>
                    <a:pt x="2017144" y="790388"/>
                  </a:cubicBezTo>
                  <a:lnTo>
                    <a:pt x="21999" y="790388"/>
                  </a:lnTo>
                  <a:cubicBezTo>
                    <a:pt x="9849" y="790388"/>
                    <a:pt x="0" y="780539"/>
                    <a:pt x="0" y="768389"/>
                  </a:cubicBezTo>
                  <a:lnTo>
                    <a:pt x="0" y="21999"/>
                  </a:lnTo>
                  <a:cubicBezTo>
                    <a:pt x="0" y="16164"/>
                    <a:pt x="2318" y="10569"/>
                    <a:pt x="6443" y="6443"/>
                  </a:cubicBezTo>
                  <a:cubicBezTo>
                    <a:pt x="10569" y="2318"/>
                    <a:pt x="16164" y="0"/>
                    <a:pt x="219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25209" y="-256688"/>
              <a:ext cx="2039143" cy="1161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562"/>
                </a:lnSpc>
              </a:pPr>
              <a:endParaRPr dirty="0"/>
            </a:p>
            <a:p>
              <a:pPr algn="ctr">
                <a:lnSpc>
                  <a:spcPts val="7562"/>
                </a:lnSpc>
              </a:pPr>
              <a:r>
                <a:rPr lang="en-US" sz="3025" b="1" dirty="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Instructor Name : Eng. El Hosein Ahmed</a:t>
              </a:r>
            </a:p>
            <a:p>
              <a:pPr algn="ctr">
                <a:lnSpc>
                  <a:spcPts val="5062"/>
                </a:lnSpc>
              </a:pPr>
              <a:endParaRPr lang="en-US" sz="3025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endParaRPr>
            </a:p>
            <a:p>
              <a:pPr algn="ctr">
                <a:lnSpc>
                  <a:spcPts val="5062"/>
                </a:lnSpc>
              </a:pPr>
              <a:endParaRPr lang="en-US" sz="3025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76850" y="347444"/>
            <a:ext cx="5321005" cy="127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144" b="1" spc="-187" dirty="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Advanced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0909" y="1556903"/>
            <a:ext cx="4045698" cy="127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144" b="1" spc="-187" dirty="0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Security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71185" y="1602852"/>
            <a:ext cx="4731498" cy="127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144" b="1" spc="-187" dirty="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Profiles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71185" y="347444"/>
            <a:ext cx="3931897" cy="127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144" b="1" spc="-187" dirty="0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FortiGate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7616" y="2852740"/>
            <a:ext cx="4101981" cy="1098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6"/>
              </a:lnSpc>
              <a:spcBef>
                <a:spcPct val="0"/>
              </a:spcBef>
            </a:pPr>
            <a:r>
              <a:rPr lang="en-US" sz="7022" b="1" spc="-16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Prepared by 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0" y="4139052"/>
            <a:ext cx="6248400" cy="3639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887" spc="-8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1- Ebrahim Sabry Farouk</a:t>
            </a:r>
          </a:p>
          <a:p>
            <a:pPr algn="ctr">
              <a:lnSpc>
                <a:spcPts val="4836"/>
              </a:lnSpc>
            </a:pPr>
            <a:r>
              <a:rPr lang="en-US" sz="3887" spc="-8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2-Hussein Hisham Hussein</a:t>
            </a:r>
          </a:p>
          <a:p>
            <a:pPr algn="ctr">
              <a:lnSpc>
                <a:spcPts val="4836"/>
              </a:lnSpc>
            </a:pPr>
            <a:r>
              <a:rPr lang="en-US" sz="3887" spc="-8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     3- Ahmed Samy Abdallah </a:t>
            </a:r>
            <a:r>
              <a:rPr lang="en-US" sz="3887" spc="-89" dirty="0" err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Shokr</a:t>
            </a:r>
            <a:endParaRPr lang="en-US" sz="3887" spc="-89" dirty="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ctr">
              <a:lnSpc>
                <a:spcPts val="4836"/>
              </a:lnSpc>
            </a:pPr>
            <a:r>
              <a:rPr lang="en-US" sz="3887" spc="-8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4-Mohamed Rabia fathi</a:t>
            </a:r>
          </a:p>
          <a:p>
            <a:pPr algn="ctr">
              <a:lnSpc>
                <a:spcPts val="4836"/>
              </a:lnSpc>
            </a:pPr>
            <a:r>
              <a:rPr lang="en-US" sz="3887" spc="-8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5-Ahmed </a:t>
            </a:r>
            <a:r>
              <a:rPr lang="en-US" sz="3887" spc="-89" dirty="0" err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maged</a:t>
            </a:r>
            <a:r>
              <a:rPr lang="en-US" sz="3887" spc="-8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mohamed</a:t>
            </a:r>
          </a:p>
          <a:p>
            <a:pPr algn="ctr">
              <a:lnSpc>
                <a:spcPts val="4836"/>
              </a:lnSpc>
            </a:pPr>
            <a:r>
              <a:rPr lang="en-US" sz="3887" spc="-8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6-Bishoy </a:t>
            </a:r>
            <a:r>
              <a:rPr lang="en-US" sz="3887" spc="-89" dirty="0" err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remon</a:t>
            </a:r>
            <a:r>
              <a:rPr lang="en-US" sz="3887" spc="-8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-US" sz="3887" spc="-89" dirty="0" err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fahmy</a:t>
            </a:r>
            <a:endParaRPr lang="en-US" sz="3887" spc="-89" dirty="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D42DDE-593D-B4C4-161B-926F8DF0F7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6451" y="719417"/>
            <a:ext cx="5858796" cy="71964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CF26B4-1842-B9F3-E602-92F02B8943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25801" y="719417"/>
            <a:ext cx="5859741" cy="71964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0431">
            <a:off x="11232939" y="3868170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073421" y="6964113"/>
            <a:ext cx="6900696" cy="3595502"/>
            <a:chOff x="0" y="0"/>
            <a:chExt cx="1954710" cy="10184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86387" y="0"/>
                  </a:moveTo>
                  <a:lnTo>
                    <a:pt x="1868324" y="0"/>
                  </a:lnTo>
                  <a:cubicBezTo>
                    <a:pt x="1916034" y="0"/>
                    <a:pt x="1954710" y="38677"/>
                    <a:pt x="1954710" y="86387"/>
                  </a:cubicBezTo>
                  <a:lnTo>
                    <a:pt x="1954710" y="932085"/>
                  </a:lnTo>
                  <a:cubicBezTo>
                    <a:pt x="1954710" y="954996"/>
                    <a:pt x="1945609" y="976969"/>
                    <a:pt x="1929408" y="993170"/>
                  </a:cubicBezTo>
                  <a:cubicBezTo>
                    <a:pt x="1913207" y="1009370"/>
                    <a:pt x="1891235" y="1018472"/>
                    <a:pt x="1868324" y="1018472"/>
                  </a:cubicBezTo>
                  <a:lnTo>
                    <a:pt x="86387" y="1018472"/>
                  </a:lnTo>
                  <a:cubicBezTo>
                    <a:pt x="38677" y="1018472"/>
                    <a:pt x="0" y="979795"/>
                    <a:pt x="0" y="932085"/>
                  </a:cubicBezTo>
                  <a:lnTo>
                    <a:pt x="0" y="86387"/>
                  </a:lnTo>
                  <a:cubicBezTo>
                    <a:pt x="0" y="63475"/>
                    <a:pt x="9101" y="41503"/>
                    <a:pt x="25302" y="25302"/>
                  </a:cubicBezTo>
                  <a:cubicBezTo>
                    <a:pt x="41503" y="9101"/>
                    <a:pt x="63475" y="0"/>
                    <a:pt x="86387" y="0"/>
                  </a:cubicBezTo>
                  <a:close/>
                </a:path>
              </a:pathLst>
            </a:custGeom>
            <a:blipFill>
              <a:blip r:embed="rId5"/>
              <a:stretch>
                <a:fillRect t="-13975" b="-139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077954" y="6294230"/>
            <a:ext cx="2240371" cy="2004459"/>
            <a:chOff x="0" y="0"/>
            <a:chExt cx="590057" cy="5279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3156" y="6634330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6" y="0"/>
                </a:lnTo>
                <a:lnTo>
                  <a:pt x="1389966" y="1324260"/>
                </a:lnTo>
                <a:lnTo>
                  <a:pt x="0" y="1324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34453" y="1369985"/>
            <a:ext cx="6774399" cy="1227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44"/>
              </a:lnSpc>
              <a:spcBef>
                <a:spcPct val="0"/>
              </a:spcBef>
            </a:pPr>
            <a:r>
              <a:rPr lang="en-US" sz="7833" b="1" spc="-18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Pr</a:t>
            </a:r>
            <a:r>
              <a:rPr lang="en-US" sz="7833" b="1" u="none" strike="noStrike" spc="-18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oject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7482" y="2927369"/>
            <a:ext cx="12540737" cy="415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6"/>
              </a:lnSpc>
            </a:pPr>
            <a:endParaRPr dirty="0"/>
          </a:p>
          <a:p>
            <a:pPr algn="l">
              <a:lnSpc>
                <a:spcPts val="4726"/>
              </a:lnSpc>
            </a:pPr>
            <a:r>
              <a:rPr lang="en-US" sz="291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project focuses on designing and implementing a fully secured enterprise network infrastructure.</a:t>
            </a:r>
          </a:p>
          <a:p>
            <a:pPr algn="l">
              <a:lnSpc>
                <a:spcPts val="4726"/>
              </a:lnSpc>
            </a:pPr>
            <a:r>
              <a:rPr lang="en-US" sz="291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goal is to build a scalable multi-VLAN network with redundancy, security, dynamic routing, and integration with FortiGate firewalls.</a:t>
            </a:r>
          </a:p>
          <a:p>
            <a:pPr algn="l">
              <a:lnSpc>
                <a:spcPts val="4726"/>
              </a:lnSpc>
            </a:pPr>
            <a:endParaRPr lang="en-US" sz="291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40431">
            <a:off x="-5783317" y="451273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73249" y="3706792"/>
            <a:ext cx="5890838" cy="5314331"/>
            <a:chOff x="0" y="0"/>
            <a:chExt cx="912645" cy="8233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645" cy="823329"/>
            </a:xfrm>
            <a:custGeom>
              <a:avLst/>
              <a:gdLst/>
              <a:ahLst/>
              <a:cxnLst/>
              <a:rect l="l" t="t" r="r" b="b"/>
              <a:pathLst>
                <a:path w="912645" h="823329">
                  <a:moveTo>
                    <a:pt x="101196" y="0"/>
                  </a:moveTo>
                  <a:lnTo>
                    <a:pt x="811449" y="0"/>
                  </a:lnTo>
                  <a:cubicBezTo>
                    <a:pt x="838288" y="0"/>
                    <a:pt x="864027" y="10662"/>
                    <a:pt x="883005" y="29640"/>
                  </a:cubicBezTo>
                  <a:cubicBezTo>
                    <a:pt x="901983" y="48617"/>
                    <a:pt x="912645" y="74357"/>
                    <a:pt x="912645" y="101196"/>
                  </a:cubicBezTo>
                  <a:lnTo>
                    <a:pt x="912645" y="722133"/>
                  </a:lnTo>
                  <a:cubicBezTo>
                    <a:pt x="912645" y="778022"/>
                    <a:pt x="867338" y="823329"/>
                    <a:pt x="811449" y="823329"/>
                  </a:cubicBezTo>
                  <a:lnTo>
                    <a:pt x="101196" y="823329"/>
                  </a:lnTo>
                  <a:cubicBezTo>
                    <a:pt x="45307" y="823329"/>
                    <a:pt x="0" y="778022"/>
                    <a:pt x="0" y="722133"/>
                  </a:cubicBezTo>
                  <a:lnTo>
                    <a:pt x="0" y="101196"/>
                  </a:lnTo>
                  <a:cubicBezTo>
                    <a:pt x="0" y="45307"/>
                    <a:pt x="45307" y="0"/>
                    <a:pt x="101196" y="0"/>
                  </a:cubicBezTo>
                  <a:close/>
                </a:path>
              </a:pathLst>
            </a:custGeom>
            <a:blipFill>
              <a:blip r:embed="rId4"/>
              <a:stretch>
                <a:fillRect l="-36475" r="-364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3063" y="2915404"/>
            <a:ext cx="2240371" cy="2004459"/>
            <a:chOff x="0" y="0"/>
            <a:chExt cx="590057" cy="527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7384885">
            <a:off x="12826546" y="-5173309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78265" y="3255504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7" y="0"/>
                </a:lnTo>
                <a:lnTo>
                  <a:pt x="1389967" y="1324260"/>
                </a:lnTo>
                <a:lnTo>
                  <a:pt x="0" y="1324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78265" y="428317"/>
            <a:ext cx="9545376" cy="275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6"/>
              </a:lnSpc>
            </a:pPr>
            <a:r>
              <a:rPr lang="en-US" sz="6974" b="1" spc="-160" dirty="0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Network Architecture Model</a:t>
            </a:r>
          </a:p>
          <a:p>
            <a:pPr algn="l">
              <a:lnSpc>
                <a:spcPts val="6561"/>
              </a:lnSpc>
            </a:pPr>
            <a:endParaRPr lang="en-US" sz="6974" b="1" spc="-160" dirty="0">
              <a:solidFill>
                <a:srgbClr val="FF654A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  <a:p>
            <a:pPr algn="l">
              <a:lnSpc>
                <a:spcPts val="6561"/>
              </a:lnSpc>
            </a:pPr>
            <a:endParaRPr lang="en-US" sz="6974" b="1" spc="-160" dirty="0">
              <a:solidFill>
                <a:srgbClr val="FF654A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00637" y="4352629"/>
            <a:ext cx="9123283" cy="33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  <a:spcBef>
                <a:spcPct val="0"/>
              </a:spcBef>
            </a:pPr>
            <a:r>
              <a:rPr lang="en-US" sz="4314" spc="-9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network follows a hierarchical enterprise model:</a:t>
            </a:r>
          </a:p>
          <a:p>
            <a:pPr algn="ctr">
              <a:lnSpc>
                <a:spcPts val="5367"/>
              </a:lnSpc>
              <a:spcBef>
                <a:spcPct val="0"/>
              </a:spcBef>
            </a:pPr>
            <a:r>
              <a:rPr lang="en-US" sz="4314" spc="-9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Core Layer</a:t>
            </a:r>
          </a:p>
          <a:p>
            <a:pPr algn="ctr">
              <a:lnSpc>
                <a:spcPts val="5367"/>
              </a:lnSpc>
              <a:spcBef>
                <a:spcPct val="0"/>
              </a:spcBef>
            </a:pPr>
            <a:r>
              <a:rPr lang="en-US" sz="4314" spc="-9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Distribution Layer (DSW-1 &amp; DSW-2)</a:t>
            </a:r>
          </a:p>
          <a:p>
            <a:pPr algn="ctr">
              <a:lnSpc>
                <a:spcPts val="5367"/>
              </a:lnSpc>
              <a:spcBef>
                <a:spcPct val="0"/>
              </a:spcBef>
            </a:pPr>
            <a:r>
              <a:rPr lang="en-US" sz="4314" spc="-99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Access Layer (Finance, Marketing, Sales, HR, IT)</a:t>
            </a:r>
          </a:p>
          <a:p>
            <a:pPr algn="ctr">
              <a:lnSpc>
                <a:spcPts val="5367"/>
              </a:lnSpc>
              <a:spcBef>
                <a:spcPct val="0"/>
              </a:spcBef>
            </a:pPr>
            <a:endParaRPr lang="en-US" sz="4314" spc="-99" dirty="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490664" y="4141270"/>
            <a:ext cx="2240371" cy="2004459"/>
            <a:chOff x="0" y="0"/>
            <a:chExt cx="590057" cy="5279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073421" y="5143500"/>
            <a:ext cx="6900696" cy="3595502"/>
            <a:chOff x="0" y="0"/>
            <a:chExt cx="1954710" cy="1018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86387" y="0"/>
                  </a:moveTo>
                  <a:lnTo>
                    <a:pt x="1868324" y="0"/>
                  </a:lnTo>
                  <a:cubicBezTo>
                    <a:pt x="1916034" y="0"/>
                    <a:pt x="1954710" y="38677"/>
                    <a:pt x="1954710" y="86387"/>
                  </a:cubicBezTo>
                  <a:lnTo>
                    <a:pt x="1954710" y="932085"/>
                  </a:lnTo>
                  <a:cubicBezTo>
                    <a:pt x="1954710" y="954996"/>
                    <a:pt x="1945609" y="976969"/>
                    <a:pt x="1929408" y="993170"/>
                  </a:cubicBezTo>
                  <a:cubicBezTo>
                    <a:pt x="1913207" y="1009370"/>
                    <a:pt x="1891235" y="1018472"/>
                    <a:pt x="1868324" y="1018472"/>
                  </a:cubicBezTo>
                  <a:lnTo>
                    <a:pt x="86387" y="1018472"/>
                  </a:lnTo>
                  <a:cubicBezTo>
                    <a:pt x="38677" y="1018472"/>
                    <a:pt x="0" y="979795"/>
                    <a:pt x="0" y="932085"/>
                  </a:cubicBezTo>
                  <a:lnTo>
                    <a:pt x="0" y="86387"/>
                  </a:lnTo>
                  <a:cubicBezTo>
                    <a:pt x="0" y="63475"/>
                    <a:pt x="9101" y="41503"/>
                    <a:pt x="25302" y="25302"/>
                  </a:cubicBezTo>
                  <a:cubicBezTo>
                    <a:pt x="41503" y="9101"/>
                    <a:pt x="63475" y="0"/>
                    <a:pt x="86387" y="0"/>
                  </a:cubicBezTo>
                  <a:close/>
                </a:path>
              </a:pathLst>
            </a:custGeom>
            <a:blipFill>
              <a:blip r:embed="rId5"/>
              <a:stretch>
                <a:fillRect t="-14033" b="-140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6279134" y="4144564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7" y="0"/>
                </a:lnTo>
                <a:lnTo>
                  <a:pt x="1389967" y="1324259"/>
                </a:lnTo>
                <a:lnTo>
                  <a:pt x="0" y="1324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34453" y="1379510"/>
            <a:ext cx="8338968" cy="112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r>
              <a:rPr lang="en-US" sz="7233" b="1" spc="-166" dirty="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VLAN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4313819"/>
            <a:ext cx="13343501" cy="2510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8"/>
              </a:lnSpc>
            </a:pPr>
            <a:r>
              <a:rPr lang="en-US" sz="31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network contains five main VLANs:</a:t>
            </a:r>
          </a:p>
          <a:p>
            <a:pPr marL="669774" lvl="1" indent="-334887" algn="l">
              <a:lnSpc>
                <a:spcPts val="5028"/>
              </a:lnSpc>
              <a:buFont typeface="Arial"/>
              <a:buChar char="•"/>
            </a:pPr>
            <a:r>
              <a:rPr lang="en-US" sz="31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VLAN 10 – </a:t>
            </a:r>
            <a:r>
              <a:rPr lang="en-US" sz="3102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Finance</a:t>
            </a:r>
            <a:r>
              <a:rPr lang="en-US" sz="31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– 192.168.1.0/24</a:t>
            </a:r>
          </a:p>
          <a:p>
            <a:pPr algn="l">
              <a:lnSpc>
                <a:spcPts val="5028"/>
              </a:lnSpc>
            </a:pPr>
            <a:endParaRPr lang="en-US" sz="310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5028"/>
              </a:lnSpc>
            </a:pPr>
            <a:endParaRPr lang="en-US" sz="310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74585" y="1379491"/>
            <a:ext cx="8464698" cy="1121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7229" b="1" spc="-166" dirty="0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C4E16-FE6D-7AE8-46AE-4277387A18FB}"/>
              </a:ext>
            </a:extLst>
          </p:cNvPr>
          <p:cNvSpPr txBox="1"/>
          <p:nvPr/>
        </p:nvSpPr>
        <p:spPr>
          <a:xfrm>
            <a:off x="-508505" y="5468823"/>
            <a:ext cx="816617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9178" lvl="1" indent="-469589" algn="ctr">
              <a:lnSpc>
                <a:spcPts val="5411"/>
              </a:lnSpc>
              <a:spcBef>
                <a:spcPct val="0"/>
              </a:spcBef>
              <a:buFont typeface="Arial"/>
              <a:buChar char="•"/>
            </a:pPr>
            <a:r>
              <a:rPr lang="en-US" sz="4350" spc="-100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VLAN 20 – Marketing – 192.168.2.0/24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B8CD3C-18E9-64E6-B668-85B6661D3600}"/>
              </a:ext>
            </a:extLst>
          </p:cNvPr>
          <p:cNvSpPr txBox="1"/>
          <p:nvPr/>
        </p:nvSpPr>
        <p:spPr>
          <a:xfrm>
            <a:off x="-154017" y="6188996"/>
            <a:ext cx="6941324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39178" lvl="1" indent="-469589" algn="ctr">
              <a:lnSpc>
                <a:spcPts val="5411"/>
              </a:lnSpc>
              <a:spcBef>
                <a:spcPct val="0"/>
              </a:spcBef>
              <a:buFont typeface="Arial"/>
              <a:buChar char="•"/>
            </a:pPr>
            <a:r>
              <a:rPr lang="en-US" sz="4350" spc="-100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VLAN 30 – Sales – 192.168.3.0/24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43D3F4-8B46-5CDD-74FB-3CDD64D4A0A6}"/>
              </a:ext>
            </a:extLst>
          </p:cNvPr>
          <p:cNvSpPr txBox="1"/>
          <p:nvPr/>
        </p:nvSpPr>
        <p:spPr>
          <a:xfrm>
            <a:off x="160572" y="6851194"/>
            <a:ext cx="631214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9178" lvl="1" indent="-469589" algn="ctr">
              <a:lnSpc>
                <a:spcPts val="5411"/>
              </a:lnSpc>
              <a:spcBef>
                <a:spcPct val="0"/>
              </a:spcBef>
              <a:buFont typeface="Arial"/>
              <a:buChar char="•"/>
            </a:pPr>
            <a:r>
              <a:rPr lang="en-US" sz="4350" spc="-100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VLAN 40 – HR – 192.168.4.0/24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2DE6AD-4998-9656-CFFC-1530711C7B1C}"/>
              </a:ext>
            </a:extLst>
          </p:cNvPr>
          <p:cNvSpPr txBox="1"/>
          <p:nvPr/>
        </p:nvSpPr>
        <p:spPr>
          <a:xfrm>
            <a:off x="356713" y="7531131"/>
            <a:ext cx="6173485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39178" lvl="1" indent="-469589" algn="ctr">
              <a:lnSpc>
                <a:spcPts val="5411"/>
              </a:lnSpc>
              <a:spcBef>
                <a:spcPct val="0"/>
              </a:spcBef>
              <a:buFont typeface="Arial"/>
              <a:buChar char="•"/>
            </a:pPr>
            <a:r>
              <a:rPr lang="en-US" sz="4350" spc="-100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VLAN 50 – IT – 192.168.5.0/24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40431">
            <a:off x="-5783317" y="451273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15165" y="3690491"/>
            <a:ext cx="5890838" cy="5314331"/>
            <a:chOff x="0" y="0"/>
            <a:chExt cx="912645" cy="8233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645" cy="823329"/>
            </a:xfrm>
            <a:custGeom>
              <a:avLst/>
              <a:gdLst/>
              <a:ahLst/>
              <a:cxnLst/>
              <a:rect l="l" t="t" r="r" b="b"/>
              <a:pathLst>
                <a:path w="912645" h="823329">
                  <a:moveTo>
                    <a:pt x="101196" y="0"/>
                  </a:moveTo>
                  <a:lnTo>
                    <a:pt x="811449" y="0"/>
                  </a:lnTo>
                  <a:cubicBezTo>
                    <a:pt x="838288" y="0"/>
                    <a:pt x="864027" y="10662"/>
                    <a:pt x="883005" y="29640"/>
                  </a:cubicBezTo>
                  <a:cubicBezTo>
                    <a:pt x="901983" y="48617"/>
                    <a:pt x="912645" y="74357"/>
                    <a:pt x="912645" y="101196"/>
                  </a:cubicBezTo>
                  <a:lnTo>
                    <a:pt x="912645" y="722133"/>
                  </a:lnTo>
                  <a:cubicBezTo>
                    <a:pt x="912645" y="778022"/>
                    <a:pt x="867338" y="823329"/>
                    <a:pt x="811449" y="823329"/>
                  </a:cubicBezTo>
                  <a:lnTo>
                    <a:pt x="101196" y="823329"/>
                  </a:lnTo>
                  <a:cubicBezTo>
                    <a:pt x="45307" y="823329"/>
                    <a:pt x="0" y="778022"/>
                    <a:pt x="0" y="722133"/>
                  </a:cubicBezTo>
                  <a:lnTo>
                    <a:pt x="0" y="101196"/>
                  </a:lnTo>
                  <a:cubicBezTo>
                    <a:pt x="0" y="45307"/>
                    <a:pt x="45307" y="0"/>
                    <a:pt x="101196" y="0"/>
                  </a:cubicBezTo>
                  <a:close/>
                </a:path>
              </a:pathLst>
            </a:custGeom>
            <a:blipFill>
              <a:blip r:embed="rId4"/>
              <a:stretch>
                <a:fillRect l="-17702" r="-177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rot="-7384885">
            <a:off x="10889364" y="-5012750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98345" y="1291544"/>
            <a:ext cx="9730045" cy="117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6"/>
              </a:lnSpc>
            </a:pPr>
            <a:r>
              <a:rPr lang="en-US" sz="844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SVI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38026" y="3633341"/>
            <a:ext cx="8618288" cy="6042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7"/>
              </a:lnSpc>
            </a:pPr>
            <a:endParaRPr/>
          </a:p>
          <a:p>
            <a:pPr algn="l">
              <a:lnSpc>
                <a:spcPts val="4017"/>
              </a:lnSpc>
            </a:pPr>
            <a:r>
              <a:rPr lang="en-US" sz="2869" spc="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SVIs configured on distribution switches:</a:t>
            </a:r>
          </a:p>
          <a:p>
            <a:pPr algn="l">
              <a:lnSpc>
                <a:spcPts val="4017"/>
              </a:lnSpc>
            </a:pPr>
            <a:r>
              <a:rPr lang="en-US" sz="2869" spc="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DSW-1:</a:t>
            </a:r>
          </a:p>
          <a:p>
            <a:pPr marL="619521" lvl="1" indent="-309761" algn="l">
              <a:lnSpc>
                <a:spcPts val="4017"/>
              </a:lnSpc>
              <a:buFont typeface="Arial"/>
              <a:buChar char="•"/>
            </a:pPr>
            <a:r>
              <a:rPr lang="en-US" sz="2869" spc="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VLAN 10 → 192.168.1.254</a:t>
            </a:r>
          </a:p>
          <a:p>
            <a:pPr marL="619521" lvl="1" indent="-309761" algn="l">
              <a:lnSpc>
                <a:spcPts val="4017"/>
              </a:lnSpc>
              <a:buFont typeface="Arial"/>
              <a:buChar char="•"/>
            </a:pPr>
            <a:r>
              <a:rPr lang="en-US" sz="2869" spc="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VLAN 20 → 192.168.2.254</a:t>
            </a:r>
          </a:p>
          <a:p>
            <a:pPr marL="619521" lvl="1" indent="-309761" algn="l">
              <a:lnSpc>
                <a:spcPts val="4017"/>
              </a:lnSpc>
              <a:buFont typeface="Arial"/>
              <a:buChar char="•"/>
            </a:pPr>
            <a:r>
              <a:rPr lang="en-US" sz="2869" spc="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VLAN 30 → 192.168.3.254</a:t>
            </a:r>
          </a:p>
          <a:p>
            <a:pPr marL="619521" lvl="1" indent="-309761" algn="l">
              <a:lnSpc>
                <a:spcPts val="4017"/>
              </a:lnSpc>
              <a:buFont typeface="Arial"/>
              <a:buChar char="•"/>
            </a:pPr>
            <a:r>
              <a:rPr lang="en-US" sz="2869" spc="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VLAN 40 → 192.168.4.254</a:t>
            </a:r>
          </a:p>
          <a:p>
            <a:pPr marL="619521" lvl="1" indent="-309761" algn="l">
              <a:lnSpc>
                <a:spcPts val="4017"/>
              </a:lnSpc>
              <a:buFont typeface="Arial"/>
              <a:buChar char="•"/>
            </a:pPr>
            <a:r>
              <a:rPr lang="en-US" sz="2869" spc="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VLAN 50 → 192.168.5.254</a:t>
            </a:r>
          </a:p>
          <a:p>
            <a:pPr algn="l">
              <a:lnSpc>
                <a:spcPts val="4017"/>
              </a:lnSpc>
            </a:pPr>
            <a:endParaRPr lang="en-US" sz="2869" spc="13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4017"/>
              </a:lnSpc>
              <a:spcBef>
                <a:spcPct val="0"/>
              </a:spcBef>
            </a:pPr>
            <a:r>
              <a:rPr lang="en-US" sz="2869" spc="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DSW-2: Uses .253 as backup gateway for all VLANs.</a:t>
            </a:r>
          </a:p>
          <a:p>
            <a:pPr marL="0" lvl="0" indent="0" algn="l">
              <a:lnSpc>
                <a:spcPts val="4017"/>
              </a:lnSpc>
              <a:spcBef>
                <a:spcPct val="0"/>
              </a:spcBef>
            </a:pPr>
            <a:endParaRPr lang="en-US" sz="2869" spc="13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513169" y="1139144"/>
            <a:ext cx="7385667" cy="13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4"/>
              </a:lnSpc>
            </a:pPr>
            <a:r>
              <a:rPr lang="en-US" sz="8444" b="1" spc="-194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073421" y="6964113"/>
            <a:ext cx="6900696" cy="3595502"/>
            <a:chOff x="0" y="0"/>
            <a:chExt cx="1954710" cy="10184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86387" y="0"/>
                  </a:moveTo>
                  <a:lnTo>
                    <a:pt x="1868324" y="0"/>
                  </a:lnTo>
                  <a:cubicBezTo>
                    <a:pt x="1916034" y="0"/>
                    <a:pt x="1954710" y="38677"/>
                    <a:pt x="1954710" y="86387"/>
                  </a:cubicBezTo>
                  <a:lnTo>
                    <a:pt x="1954710" y="932085"/>
                  </a:lnTo>
                  <a:cubicBezTo>
                    <a:pt x="1954710" y="954996"/>
                    <a:pt x="1945609" y="976969"/>
                    <a:pt x="1929408" y="993170"/>
                  </a:cubicBezTo>
                  <a:cubicBezTo>
                    <a:pt x="1913207" y="1009370"/>
                    <a:pt x="1891235" y="1018472"/>
                    <a:pt x="1868324" y="1018472"/>
                  </a:cubicBezTo>
                  <a:lnTo>
                    <a:pt x="86387" y="1018472"/>
                  </a:lnTo>
                  <a:cubicBezTo>
                    <a:pt x="38677" y="1018472"/>
                    <a:pt x="0" y="979795"/>
                    <a:pt x="0" y="932085"/>
                  </a:cubicBezTo>
                  <a:lnTo>
                    <a:pt x="0" y="86387"/>
                  </a:lnTo>
                  <a:cubicBezTo>
                    <a:pt x="0" y="63475"/>
                    <a:pt x="9101" y="41503"/>
                    <a:pt x="25302" y="25302"/>
                  </a:cubicBezTo>
                  <a:cubicBezTo>
                    <a:pt x="41503" y="9101"/>
                    <a:pt x="63475" y="0"/>
                    <a:pt x="86387" y="0"/>
                  </a:cubicBezTo>
                  <a:close/>
                </a:path>
              </a:pathLst>
            </a:custGeom>
            <a:blipFill>
              <a:blip r:embed="rId5"/>
              <a:stretch>
                <a:fillRect t="-13935" b="-139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077954" y="6294230"/>
            <a:ext cx="2240371" cy="2004459"/>
            <a:chOff x="0" y="0"/>
            <a:chExt cx="590057" cy="5279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3156" y="6634330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6" y="0"/>
                </a:lnTo>
                <a:lnTo>
                  <a:pt x="1389966" y="1324260"/>
                </a:lnTo>
                <a:lnTo>
                  <a:pt x="0" y="1324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34453" y="1418441"/>
            <a:ext cx="11186654" cy="1227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44"/>
              </a:lnSpc>
              <a:spcBef>
                <a:spcPct val="0"/>
              </a:spcBef>
            </a:pPr>
            <a:r>
              <a:rPr lang="en-US" sz="7833" b="1" spc="-18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VTP Configuration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0570" y="3475018"/>
            <a:ext cx="16553547" cy="548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8"/>
              </a:lnSpc>
            </a:pPr>
            <a:endParaRPr dirty="0"/>
          </a:p>
          <a:p>
            <a:pPr marL="830901" lvl="1" indent="-415451" algn="l">
              <a:lnSpc>
                <a:spcPts val="6238"/>
              </a:lnSpc>
              <a:buFont typeface="Arial"/>
              <a:buChar char="•"/>
            </a:pPr>
            <a:r>
              <a:rPr lang="en-US" sz="38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VTP Domain: cisco.com</a:t>
            </a:r>
          </a:p>
          <a:p>
            <a:pPr marL="830901" lvl="1" indent="-415451" algn="l">
              <a:lnSpc>
                <a:spcPts val="6238"/>
              </a:lnSpc>
              <a:buFont typeface="Arial"/>
              <a:buChar char="•"/>
            </a:pPr>
            <a:r>
              <a:rPr lang="en-US" sz="38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Password: 123</a:t>
            </a:r>
          </a:p>
          <a:p>
            <a:pPr marL="830901" lvl="1" indent="-415451" algn="l">
              <a:lnSpc>
                <a:spcPts val="6238"/>
              </a:lnSpc>
              <a:buFont typeface="Arial"/>
              <a:buChar char="•"/>
            </a:pPr>
            <a:r>
              <a:rPr lang="en-US" sz="38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DSW-1: Server Mode</a:t>
            </a:r>
          </a:p>
          <a:p>
            <a:pPr marL="830901" lvl="1" indent="-415451" algn="l">
              <a:lnSpc>
                <a:spcPts val="6238"/>
              </a:lnSpc>
              <a:buFont typeface="Arial"/>
              <a:buChar char="•"/>
            </a:pPr>
            <a:r>
              <a:rPr lang="en-US" sz="38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DSW-2: Server Mode</a:t>
            </a:r>
          </a:p>
          <a:p>
            <a:pPr marL="830901" lvl="1" indent="-415451" algn="l">
              <a:lnSpc>
                <a:spcPts val="6238"/>
              </a:lnSpc>
              <a:buFont typeface="Arial"/>
              <a:buChar char="•"/>
            </a:pPr>
            <a:r>
              <a:rPr lang="en-US" sz="38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Access Switches: Client Mode</a:t>
            </a:r>
          </a:p>
          <a:p>
            <a:pPr algn="l">
              <a:lnSpc>
                <a:spcPts val="6238"/>
              </a:lnSpc>
            </a:pPr>
            <a:endParaRPr lang="en-US" sz="3848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40431">
            <a:off x="-5783317" y="451273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3235" y="3773591"/>
            <a:ext cx="5890838" cy="5314331"/>
            <a:chOff x="0" y="0"/>
            <a:chExt cx="912645" cy="8233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645" cy="823329"/>
            </a:xfrm>
            <a:custGeom>
              <a:avLst/>
              <a:gdLst/>
              <a:ahLst/>
              <a:cxnLst/>
              <a:rect l="l" t="t" r="r" b="b"/>
              <a:pathLst>
                <a:path w="912645" h="823329">
                  <a:moveTo>
                    <a:pt x="101196" y="0"/>
                  </a:moveTo>
                  <a:lnTo>
                    <a:pt x="811449" y="0"/>
                  </a:lnTo>
                  <a:cubicBezTo>
                    <a:pt x="838288" y="0"/>
                    <a:pt x="864027" y="10662"/>
                    <a:pt x="883005" y="29640"/>
                  </a:cubicBezTo>
                  <a:cubicBezTo>
                    <a:pt x="901983" y="48617"/>
                    <a:pt x="912645" y="74357"/>
                    <a:pt x="912645" y="101196"/>
                  </a:cubicBezTo>
                  <a:lnTo>
                    <a:pt x="912645" y="722133"/>
                  </a:lnTo>
                  <a:cubicBezTo>
                    <a:pt x="912645" y="778022"/>
                    <a:pt x="867338" y="823329"/>
                    <a:pt x="811449" y="823329"/>
                  </a:cubicBezTo>
                  <a:lnTo>
                    <a:pt x="101196" y="823329"/>
                  </a:lnTo>
                  <a:cubicBezTo>
                    <a:pt x="45307" y="823329"/>
                    <a:pt x="0" y="778022"/>
                    <a:pt x="0" y="722133"/>
                  </a:cubicBezTo>
                  <a:lnTo>
                    <a:pt x="0" y="101196"/>
                  </a:lnTo>
                  <a:cubicBezTo>
                    <a:pt x="0" y="45307"/>
                    <a:pt x="45307" y="0"/>
                    <a:pt x="101196" y="0"/>
                  </a:cubicBezTo>
                  <a:close/>
                </a:path>
              </a:pathLst>
            </a:custGeom>
            <a:blipFill>
              <a:blip r:embed="rId4"/>
              <a:stretch>
                <a:fillRect l="-17702" r="-177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98345" y="1291544"/>
            <a:ext cx="7945655" cy="117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6"/>
              </a:lnSpc>
            </a:pPr>
            <a:r>
              <a:rPr lang="en-US" sz="8440" dirty="0" err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Trunking</a:t>
            </a:r>
            <a:r>
              <a:rPr lang="en-US" sz="8440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&amp; DTP</a:t>
            </a:r>
          </a:p>
        </p:txBody>
      </p:sp>
      <p:sp>
        <p:nvSpPr>
          <p:cNvPr id="6" name="Freeform 6"/>
          <p:cNvSpPr/>
          <p:nvPr/>
        </p:nvSpPr>
        <p:spPr>
          <a:xfrm rot="-7384885">
            <a:off x="10213676" y="-52074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3" y="0"/>
                </a:lnTo>
                <a:lnTo>
                  <a:pt x="12739873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949918" y="2848729"/>
            <a:ext cx="7091330" cy="6853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4"/>
              </a:lnSpc>
            </a:pPr>
            <a:endParaRPr/>
          </a:p>
          <a:p>
            <a:pPr marL="767146" lvl="1" indent="-383573" algn="l">
              <a:lnSpc>
                <a:spcPts val="4974"/>
              </a:lnSpc>
              <a:buFont typeface="Arial"/>
              <a:buChar char="•"/>
            </a:pPr>
            <a:r>
              <a:rPr lang="en-US" sz="3553" spc="1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uplinks configured as 802.1Q trunks</a:t>
            </a:r>
          </a:p>
          <a:p>
            <a:pPr marL="767146" lvl="1" indent="-383573" algn="l">
              <a:lnSpc>
                <a:spcPts val="4974"/>
              </a:lnSpc>
              <a:buFont typeface="Arial"/>
              <a:buChar char="•"/>
            </a:pPr>
            <a:r>
              <a:rPr lang="en-US" sz="3553" spc="1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Allowed VLANs: 10, 20, 30, 40, 50</a:t>
            </a:r>
          </a:p>
          <a:p>
            <a:pPr marL="767146" lvl="1" indent="-383573" algn="l">
              <a:lnSpc>
                <a:spcPts val="4974"/>
              </a:lnSpc>
              <a:buFont typeface="Arial"/>
              <a:buChar char="•"/>
            </a:pPr>
            <a:r>
              <a:rPr lang="en-US" sz="3553" spc="1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Native VLAN: 100</a:t>
            </a:r>
          </a:p>
          <a:p>
            <a:pPr marL="767146" lvl="1" indent="-383573" algn="l">
              <a:lnSpc>
                <a:spcPts val="4974"/>
              </a:lnSpc>
              <a:buFont typeface="Arial"/>
              <a:buChar char="•"/>
            </a:pPr>
            <a:r>
              <a:rPr lang="en-US" sz="3553" spc="1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DSWs: Dynamic Desirable</a:t>
            </a:r>
          </a:p>
          <a:p>
            <a:pPr marL="767146" lvl="1" indent="-383573" algn="l">
              <a:lnSpc>
                <a:spcPts val="4974"/>
              </a:lnSpc>
              <a:buFont typeface="Arial"/>
              <a:buChar char="•"/>
            </a:pPr>
            <a:r>
              <a:rPr lang="en-US" sz="3553" spc="1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Access Switches: Dynamic Auto</a:t>
            </a:r>
          </a:p>
          <a:p>
            <a:pPr marL="0" lvl="0" indent="0" algn="l">
              <a:lnSpc>
                <a:spcPts val="4974"/>
              </a:lnSpc>
              <a:spcBef>
                <a:spcPct val="0"/>
              </a:spcBef>
            </a:pPr>
            <a:endParaRPr lang="en-US" sz="3553" spc="163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53063" y="2915404"/>
            <a:ext cx="2240371" cy="2004459"/>
            <a:chOff x="0" y="0"/>
            <a:chExt cx="590057" cy="5279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78265" y="3255504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7" y="0"/>
                </a:lnTo>
                <a:lnTo>
                  <a:pt x="1389967" y="1324260"/>
                </a:lnTo>
                <a:lnTo>
                  <a:pt x="0" y="1324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9561474" y="1232749"/>
            <a:ext cx="8517524" cy="7821502"/>
            <a:chOff x="0" y="0"/>
            <a:chExt cx="2235184" cy="20525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5184" cy="2052533"/>
            </a:xfrm>
            <a:custGeom>
              <a:avLst/>
              <a:gdLst/>
              <a:ahLst/>
              <a:cxnLst/>
              <a:rect l="l" t="t" r="r" b="b"/>
              <a:pathLst>
                <a:path w="2235184" h="2052533">
                  <a:moveTo>
                    <a:pt x="69988" y="0"/>
                  </a:moveTo>
                  <a:lnTo>
                    <a:pt x="2165196" y="0"/>
                  </a:lnTo>
                  <a:cubicBezTo>
                    <a:pt x="2183758" y="0"/>
                    <a:pt x="2201559" y="7374"/>
                    <a:pt x="2214685" y="20499"/>
                  </a:cubicBezTo>
                  <a:cubicBezTo>
                    <a:pt x="2227810" y="33624"/>
                    <a:pt x="2235184" y="51426"/>
                    <a:pt x="2235184" y="69988"/>
                  </a:cubicBezTo>
                  <a:lnTo>
                    <a:pt x="2235184" y="1982544"/>
                  </a:lnTo>
                  <a:cubicBezTo>
                    <a:pt x="2235184" y="2001106"/>
                    <a:pt x="2227810" y="2018908"/>
                    <a:pt x="2214685" y="2032034"/>
                  </a:cubicBezTo>
                  <a:cubicBezTo>
                    <a:pt x="2201559" y="2045159"/>
                    <a:pt x="2183758" y="2052533"/>
                    <a:pt x="2165196" y="2052533"/>
                  </a:cubicBezTo>
                  <a:lnTo>
                    <a:pt x="69988" y="2052533"/>
                  </a:lnTo>
                  <a:cubicBezTo>
                    <a:pt x="51426" y="2052533"/>
                    <a:pt x="33624" y="2045159"/>
                    <a:pt x="20499" y="2032034"/>
                  </a:cubicBezTo>
                  <a:cubicBezTo>
                    <a:pt x="7374" y="2018908"/>
                    <a:pt x="0" y="2001106"/>
                    <a:pt x="0" y="1982544"/>
                  </a:cubicBezTo>
                  <a:lnTo>
                    <a:pt x="0" y="69988"/>
                  </a:lnTo>
                  <a:cubicBezTo>
                    <a:pt x="0" y="51426"/>
                    <a:pt x="7374" y="33624"/>
                    <a:pt x="20499" y="20499"/>
                  </a:cubicBezTo>
                  <a:cubicBezTo>
                    <a:pt x="33624" y="7374"/>
                    <a:pt x="51426" y="0"/>
                    <a:pt x="69988" y="0"/>
                  </a:cubicBezTo>
                  <a:close/>
                </a:path>
              </a:pathLst>
            </a:custGeom>
            <a:blipFill>
              <a:blip r:embed="rId5">
                <a:alphaModFix amt="73000"/>
              </a:blip>
              <a:stretch>
                <a:fillRect t="-4449" b="-44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4453" y="1466898"/>
            <a:ext cx="9525862" cy="1227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44"/>
              </a:lnSpc>
              <a:spcBef>
                <a:spcPct val="0"/>
              </a:spcBef>
            </a:pPr>
            <a:r>
              <a:rPr lang="en-US" sz="7833" b="1" spc="-18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Port Security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3578557"/>
            <a:ext cx="15014217" cy="498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8"/>
              </a:lnSpc>
            </a:pPr>
            <a:endParaRPr/>
          </a:p>
          <a:p>
            <a:pPr algn="l">
              <a:lnSpc>
                <a:spcPts val="5658"/>
              </a:lnSpc>
            </a:pPr>
            <a:r>
              <a:rPr lang="en-US" sz="34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Applied on access-layer user ports:</a:t>
            </a:r>
          </a:p>
          <a:p>
            <a:pPr marL="753635" lvl="1" indent="-376817" algn="l">
              <a:lnSpc>
                <a:spcPts val="5658"/>
              </a:lnSpc>
              <a:buFont typeface="Arial"/>
              <a:buChar char="•"/>
            </a:pPr>
            <a:r>
              <a:rPr lang="en-US" sz="34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Max 2 MAC addresses</a:t>
            </a:r>
          </a:p>
          <a:p>
            <a:pPr marL="753635" lvl="1" indent="-376817" algn="l">
              <a:lnSpc>
                <a:spcPts val="5658"/>
              </a:lnSpc>
              <a:buFont typeface="Arial"/>
              <a:buChar char="•"/>
            </a:pPr>
            <a:r>
              <a:rPr lang="en-US" sz="34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Sticky MAC enabled</a:t>
            </a:r>
          </a:p>
          <a:p>
            <a:pPr marL="753635" lvl="1" indent="-376817" algn="l">
              <a:lnSpc>
                <a:spcPts val="5658"/>
              </a:lnSpc>
              <a:buFont typeface="Arial"/>
              <a:buChar char="•"/>
            </a:pPr>
            <a:r>
              <a:rPr lang="en-US" sz="34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Violation mode: Restrict</a:t>
            </a:r>
          </a:p>
          <a:p>
            <a:pPr marL="753635" lvl="1" indent="-376817" algn="l">
              <a:lnSpc>
                <a:spcPts val="5658"/>
              </a:lnSpc>
              <a:buFont typeface="Arial"/>
              <a:buChar char="•"/>
            </a:pPr>
            <a:r>
              <a:rPr lang="en-US" sz="34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PortFast enabled for end-user ports</a:t>
            </a:r>
          </a:p>
          <a:p>
            <a:pPr algn="l">
              <a:lnSpc>
                <a:spcPts val="5658"/>
              </a:lnSpc>
            </a:pPr>
            <a:endParaRPr lang="en-US" sz="34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40431">
            <a:off x="-5783317" y="451273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3235" y="3773591"/>
            <a:ext cx="5890838" cy="5314331"/>
            <a:chOff x="0" y="0"/>
            <a:chExt cx="912645" cy="8233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645" cy="823329"/>
            </a:xfrm>
            <a:custGeom>
              <a:avLst/>
              <a:gdLst/>
              <a:ahLst/>
              <a:cxnLst/>
              <a:rect l="l" t="t" r="r" b="b"/>
              <a:pathLst>
                <a:path w="912645" h="823329">
                  <a:moveTo>
                    <a:pt x="101196" y="0"/>
                  </a:moveTo>
                  <a:lnTo>
                    <a:pt x="811449" y="0"/>
                  </a:lnTo>
                  <a:cubicBezTo>
                    <a:pt x="838288" y="0"/>
                    <a:pt x="864027" y="10662"/>
                    <a:pt x="883005" y="29640"/>
                  </a:cubicBezTo>
                  <a:cubicBezTo>
                    <a:pt x="901983" y="48617"/>
                    <a:pt x="912645" y="74357"/>
                    <a:pt x="912645" y="101196"/>
                  </a:cubicBezTo>
                  <a:lnTo>
                    <a:pt x="912645" y="722133"/>
                  </a:lnTo>
                  <a:cubicBezTo>
                    <a:pt x="912645" y="778022"/>
                    <a:pt x="867338" y="823329"/>
                    <a:pt x="811449" y="823329"/>
                  </a:cubicBezTo>
                  <a:lnTo>
                    <a:pt x="101196" y="823329"/>
                  </a:lnTo>
                  <a:cubicBezTo>
                    <a:pt x="45307" y="823329"/>
                    <a:pt x="0" y="778022"/>
                    <a:pt x="0" y="722133"/>
                  </a:cubicBezTo>
                  <a:lnTo>
                    <a:pt x="0" y="101196"/>
                  </a:lnTo>
                  <a:cubicBezTo>
                    <a:pt x="0" y="45307"/>
                    <a:pt x="45307" y="0"/>
                    <a:pt x="101196" y="0"/>
                  </a:cubicBezTo>
                  <a:close/>
                </a:path>
              </a:pathLst>
            </a:custGeom>
            <a:blipFill>
              <a:blip r:embed="rId4"/>
              <a:stretch>
                <a:fillRect l="-9911" r="-99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rot="-7384885">
            <a:off x="10842846" y="-5066812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53063" y="2915404"/>
            <a:ext cx="2240371" cy="2004459"/>
            <a:chOff x="0" y="0"/>
            <a:chExt cx="590057" cy="5279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78265" y="3255504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7" y="0"/>
                </a:lnTo>
                <a:lnTo>
                  <a:pt x="1389967" y="1324260"/>
                </a:lnTo>
                <a:lnTo>
                  <a:pt x="0" y="1324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156593" y="722665"/>
            <a:ext cx="11420502" cy="117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6"/>
              </a:lnSpc>
            </a:pPr>
            <a:r>
              <a:rPr lang="en-US" sz="8440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Redundancy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72412" y="3716441"/>
            <a:ext cx="7159617" cy="2653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3012" spc="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HSRP:</a:t>
            </a:r>
          </a:p>
          <a:p>
            <a:pPr marL="650458" lvl="1" indent="-325229" algn="l">
              <a:lnSpc>
                <a:spcPts val="4217"/>
              </a:lnSpc>
              <a:buFont typeface="Arial"/>
              <a:buChar char="•"/>
            </a:pPr>
            <a:r>
              <a:rPr lang="en-US" sz="3012" spc="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Virtual Gateway: 192.168.x.100</a:t>
            </a:r>
          </a:p>
          <a:p>
            <a:pPr marL="650458" lvl="1" indent="-325229" algn="l">
              <a:lnSpc>
                <a:spcPts val="4217"/>
              </a:lnSpc>
              <a:buFont typeface="Arial"/>
              <a:buChar char="•"/>
            </a:pPr>
            <a:r>
              <a:rPr lang="en-US" sz="3012" spc="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DSW-1 active for VLANs 10,20,30</a:t>
            </a:r>
          </a:p>
          <a:p>
            <a:pPr marL="650458" lvl="1" indent="-325229" algn="l">
              <a:lnSpc>
                <a:spcPts val="4217"/>
              </a:lnSpc>
              <a:buFont typeface="Arial"/>
              <a:buChar char="•"/>
            </a:pPr>
            <a:r>
              <a:rPr lang="en-US" sz="3012" spc="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DSW-2 active for VLANs 40,50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33436" y="570265"/>
            <a:ext cx="4697364" cy="13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4"/>
              </a:lnSpc>
            </a:pPr>
            <a:r>
              <a:rPr lang="en-US" sz="8444" b="1" spc="-194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(HSRP + STP)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6A5125-4039-0450-3D55-08D554203411}"/>
              </a:ext>
            </a:extLst>
          </p:cNvPr>
          <p:cNvSpPr txBox="1"/>
          <p:nvPr/>
        </p:nvSpPr>
        <p:spPr>
          <a:xfrm>
            <a:off x="7972412" y="6352774"/>
            <a:ext cx="715961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217"/>
              </a:lnSpc>
            </a:pPr>
            <a:r>
              <a:rPr lang="en-US" sz="3012" spc="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STP:</a:t>
            </a:r>
          </a:p>
          <a:p>
            <a:pPr marL="650458" lvl="1" indent="-325229">
              <a:lnSpc>
                <a:spcPts val="4217"/>
              </a:lnSpc>
              <a:buFont typeface="Arial"/>
              <a:buChar char="•"/>
            </a:pPr>
            <a:r>
              <a:rPr lang="en-US" sz="3012" spc="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Priorities tuned to match HSRP roles for optimal traffic flow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6" dur="2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162487" y="4048303"/>
            <a:ext cx="6900696" cy="3595502"/>
            <a:chOff x="0" y="0"/>
            <a:chExt cx="1954710" cy="10184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86387" y="0"/>
                  </a:moveTo>
                  <a:lnTo>
                    <a:pt x="1868324" y="0"/>
                  </a:lnTo>
                  <a:cubicBezTo>
                    <a:pt x="1916034" y="0"/>
                    <a:pt x="1954710" y="38677"/>
                    <a:pt x="1954710" y="86387"/>
                  </a:cubicBezTo>
                  <a:lnTo>
                    <a:pt x="1954710" y="932085"/>
                  </a:lnTo>
                  <a:cubicBezTo>
                    <a:pt x="1954710" y="954996"/>
                    <a:pt x="1945609" y="976969"/>
                    <a:pt x="1929408" y="993170"/>
                  </a:cubicBezTo>
                  <a:cubicBezTo>
                    <a:pt x="1913207" y="1009370"/>
                    <a:pt x="1891235" y="1018472"/>
                    <a:pt x="1868324" y="1018472"/>
                  </a:cubicBezTo>
                  <a:lnTo>
                    <a:pt x="86387" y="1018472"/>
                  </a:lnTo>
                  <a:cubicBezTo>
                    <a:pt x="38677" y="1018472"/>
                    <a:pt x="0" y="979795"/>
                    <a:pt x="0" y="932085"/>
                  </a:cubicBezTo>
                  <a:lnTo>
                    <a:pt x="0" y="86387"/>
                  </a:lnTo>
                  <a:cubicBezTo>
                    <a:pt x="0" y="63475"/>
                    <a:pt x="9101" y="41503"/>
                    <a:pt x="25302" y="25302"/>
                  </a:cubicBezTo>
                  <a:cubicBezTo>
                    <a:pt x="41503" y="9101"/>
                    <a:pt x="63475" y="0"/>
                    <a:pt x="86387" y="0"/>
                  </a:cubicBezTo>
                  <a:close/>
                </a:path>
              </a:pathLst>
            </a:custGeom>
            <a:blipFill>
              <a:blip r:embed="rId5"/>
              <a:stretch>
                <a:fillRect t="-14033" b="-140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03156" y="2758165"/>
            <a:ext cx="2240371" cy="2004459"/>
            <a:chOff x="0" y="0"/>
            <a:chExt cx="590057" cy="5279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928358" y="3098265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7" y="0"/>
                </a:lnTo>
                <a:lnTo>
                  <a:pt x="1389967" y="1324259"/>
                </a:lnTo>
                <a:lnTo>
                  <a:pt x="0" y="1324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305185" y="772007"/>
            <a:ext cx="14892954" cy="178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161"/>
              </a:lnSpc>
              <a:spcBef>
                <a:spcPct val="0"/>
              </a:spcBef>
            </a:pPr>
            <a:r>
              <a:rPr lang="en-US" sz="11383" b="1" spc="-26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EtherChannel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666" y="3646094"/>
            <a:ext cx="14746288" cy="428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8"/>
              </a:lnSpc>
            </a:pPr>
            <a:endParaRPr/>
          </a:p>
          <a:p>
            <a:pPr algn="l">
              <a:lnSpc>
                <a:spcPts val="4878"/>
              </a:lnSpc>
            </a:pPr>
            <a:r>
              <a:rPr lang="en-US" sz="30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Layer-3 EtherChannel between DSW-1 &amp; DSW-2:</a:t>
            </a:r>
          </a:p>
          <a:p>
            <a:pPr marL="649831" lvl="1" indent="-324915" algn="l">
              <a:lnSpc>
                <a:spcPts val="4878"/>
              </a:lnSpc>
              <a:buFont typeface="Arial"/>
              <a:buChar char="•"/>
            </a:pPr>
            <a:r>
              <a:rPr lang="en-US" sz="30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Port-Channel 10</a:t>
            </a:r>
          </a:p>
          <a:p>
            <a:pPr marL="649831" lvl="1" indent="-324915" algn="l">
              <a:lnSpc>
                <a:spcPts val="4878"/>
              </a:lnSpc>
              <a:buFont typeface="Arial"/>
              <a:buChar char="•"/>
            </a:pPr>
            <a:r>
              <a:rPr lang="en-US" sz="30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DSW-1: 11.1.1.1/30</a:t>
            </a:r>
          </a:p>
          <a:p>
            <a:pPr marL="649831" lvl="1" indent="-324915" algn="l">
              <a:lnSpc>
                <a:spcPts val="4878"/>
              </a:lnSpc>
              <a:buFont typeface="Arial"/>
              <a:buChar char="•"/>
            </a:pPr>
            <a:r>
              <a:rPr lang="en-US" sz="30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DSW-2: 11.1.1.2/30</a:t>
            </a:r>
          </a:p>
          <a:p>
            <a:pPr marL="649831" lvl="1" indent="-324915" algn="l">
              <a:lnSpc>
                <a:spcPts val="4878"/>
              </a:lnSpc>
              <a:buFont typeface="Arial"/>
              <a:buChar char="•"/>
            </a:pPr>
            <a:r>
              <a:rPr lang="en-US" sz="30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Mode: ON</a:t>
            </a:r>
          </a:p>
          <a:p>
            <a:pPr algn="l">
              <a:lnSpc>
                <a:spcPts val="4878"/>
              </a:lnSpc>
            </a:pPr>
            <a:endParaRPr lang="en-US" sz="300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490664" y="4141270"/>
            <a:ext cx="2240371" cy="2004459"/>
            <a:chOff x="0" y="0"/>
            <a:chExt cx="590057" cy="5279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144000" y="4733209"/>
            <a:ext cx="7830117" cy="4079762"/>
            <a:chOff x="0" y="0"/>
            <a:chExt cx="1954710" cy="1018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76133" y="0"/>
                  </a:moveTo>
                  <a:lnTo>
                    <a:pt x="1878577" y="0"/>
                  </a:lnTo>
                  <a:cubicBezTo>
                    <a:pt x="1898769" y="0"/>
                    <a:pt x="1918134" y="8021"/>
                    <a:pt x="1932411" y="22299"/>
                  </a:cubicBezTo>
                  <a:cubicBezTo>
                    <a:pt x="1946689" y="36576"/>
                    <a:pt x="1954710" y="55941"/>
                    <a:pt x="1954710" y="76133"/>
                  </a:cubicBezTo>
                  <a:lnTo>
                    <a:pt x="1954710" y="942339"/>
                  </a:lnTo>
                  <a:cubicBezTo>
                    <a:pt x="1954710" y="962531"/>
                    <a:pt x="1946689" y="981895"/>
                    <a:pt x="1932411" y="996173"/>
                  </a:cubicBezTo>
                  <a:cubicBezTo>
                    <a:pt x="1918134" y="1010451"/>
                    <a:pt x="1898769" y="1018472"/>
                    <a:pt x="1878577" y="1018472"/>
                  </a:cubicBezTo>
                  <a:lnTo>
                    <a:pt x="76133" y="1018472"/>
                  </a:lnTo>
                  <a:cubicBezTo>
                    <a:pt x="55941" y="1018472"/>
                    <a:pt x="36576" y="1010451"/>
                    <a:pt x="22299" y="996173"/>
                  </a:cubicBezTo>
                  <a:cubicBezTo>
                    <a:pt x="8021" y="981895"/>
                    <a:pt x="0" y="962531"/>
                    <a:pt x="0" y="942339"/>
                  </a:cubicBezTo>
                  <a:lnTo>
                    <a:pt x="0" y="76133"/>
                  </a:lnTo>
                  <a:cubicBezTo>
                    <a:pt x="0" y="55941"/>
                    <a:pt x="8021" y="36576"/>
                    <a:pt x="22299" y="22299"/>
                  </a:cubicBezTo>
                  <a:cubicBezTo>
                    <a:pt x="36576" y="8021"/>
                    <a:pt x="55941" y="0"/>
                    <a:pt x="76133" y="0"/>
                  </a:cubicBezTo>
                  <a:close/>
                </a:path>
              </a:pathLst>
            </a:custGeom>
            <a:blipFill>
              <a:blip r:embed="rId5"/>
              <a:stretch>
                <a:fillRect t="-9054" b="-905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5915866" y="4481370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7" y="0"/>
                </a:lnTo>
                <a:lnTo>
                  <a:pt x="1389967" y="1324260"/>
                </a:lnTo>
                <a:lnTo>
                  <a:pt x="0" y="1324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0268" y="2875232"/>
            <a:ext cx="13343501" cy="506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8"/>
              </a:lnSpc>
            </a:pPr>
            <a:endParaRPr dirty="0"/>
          </a:p>
          <a:p>
            <a:pPr marL="669774" lvl="1" indent="-334887" algn="l">
              <a:lnSpc>
                <a:spcPts val="5028"/>
              </a:lnSpc>
              <a:buFont typeface="Arial"/>
              <a:buChar char="•"/>
            </a:pPr>
            <a:r>
              <a:rPr lang="en-US" sz="31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OSPF Area: 0</a:t>
            </a:r>
          </a:p>
          <a:p>
            <a:pPr marL="669774" lvl="1" indent="-334887" algn="l">
              <a:lnSpc>
                <a:spcPts val="5028"/>
              </a:lnSpc>
              <a:buFont typeface="Arial"/>
              <a:buChar char="•"/>
            </a:pPr>
            <a:r>
              <a:rPr lang="en-US" sz="31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Runs on Core &amp; Distribution switches</a:t>
            </a:r>
          </a:p>
          <a:p>
            <a:pPr marL="669774" lvl="1" indent="-334887" algn="l">
              <a:lnSpc>
                <a:spcPts val="5028"/>
              </a:lnSpc>
              <a:buFont typeface="Arial"/>
              <a:buChar char="•"/>
            </a:pPr>
            <a:r>
              <a:rPr lang="en-US" sz="31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SVIs are passive</a:t>
            </a:r>
          </a:p>
          <a:p>
            <a:pPr marL="669774" lvl="1" indent="-334887" algn="l">
              <a:lnSpc>
                <a:spcPts val="5028"/>
              </a:lnSpc>
              <a:buFont typeface="Arial"/>
              <a:buChar char="•"/>
            </a:pPr>
            <a:r>
              <a:rPr lang="en-US" sz="31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Advertises:</a:t>
            </a:r>
          </a:p>
          <a:p>
            <a:pPr marL="1339547" lvl="2" indent="-446516" algn="l">
              <a:lnSpc>
                <a:spcPts val="5028"/>
              </a:lnSpc>
              <a:buFont typeface="Arial"/>
              <a:buChar char="⚬"/>
            </a:pPr>
            <a:r>
              <a:rPr lang="en-US" sz="31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VLAN networks</a:t>
            </a:r>
          </a:p>
          <a:p>
            <a:pPr marL="1339547" lvl="2" indent="-446516" algn="l">
              <a:lnSpc>
                <a:spcPts val="5028"/>
              </a:lnSpc>
              <a:buFont typeface="Arial"/>
              <a:buChar char="⚬"/>
            </a:pPr>
            <a:r>
              <a:rPr lang="en-US" sz="31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Inter-switch links</a:t>
            </a:r>
          </a:p>
          <a:p>
            <a:pPr algn="l">
              <a:lnSpc>
                <a:spcPts val="5028"/>
              </a:lnSpc>
            </a:pPr>
            <a:endParaRPr lang="en-US" sz="310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05032" y="1267152"/>
            <a:ext cx="8338968" cy="112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r>
              <a:rPr lang="en-US" sz="7233" b="1" spc="-166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OSPF Dynamic Routing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5773" y="-3082505"/>
            <a:ext cx="20653848" cy="16452010"/>
          </a:xfrm>
          <a:custGeom>
            <a:avLst/>
            <a:gdLst/>
            <a:ahLst/>
            <a:cxnLst/>
            <a:rect l="l" t="t" r="r" b="b"/>
            <a:pathLst>
              <a:path w="20653848" h="16452010">
                <a:moveTo>
                  <a:pt x="0" y="0"/>
                </a:moveTo>
                <a:lnTo>
                  <a:pt x="20653848" y="0"/>
                </a:lnTo>
                <a:lnTo>
                  <a:pt x="20653848" y="16452010"/>
                </a:lnTo>
                <a:lnTo>
                  <a:pt x="0" y="16452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t="-12769" b="-127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440431">
            <a:off x="11036136" y="4005064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09"/>
                </a:lnTo>
                <a:lnTo>
                  <a:pt x="0" y="14960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577160">
            <a:off x="2720610" y="5694870"/>
            <a:ext cx="16856392" cy="2022767"/>
          </a:xfrm>
          <a:custGeom>
            <a:avLst/>
            <a:gdLst/>
            <a:ahLst/>
            <a:cxnLst/>
            <a:rect l="l" t="t" r="r" b="b"/>
            <a:pathLst>
              <a:path w="16856392" h="2022767">
                <a:moveTo>
                  <a:pt x="0" y="0"/>
                </a:moveTo>
                <a:lnTo>
                  <a:pt x="16856392" y="0"/>
                </a:lnTo>
                <a:lnTo>
                  <a:pt x="16856392" y="2022767"/>
                </a:lnTo>
                <a:lnTo>
                  <a:pt x="0" y="20227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577160">
            <a:off x="-3530589" y="1077646"/>
            <a:ext cx="10614526" cy="1273743"/>
          </a:xfrm>
          <a:custGeom>
            <a:avLst/>
            <a:gdLst/>
            <a:ahLst/>
            <a:cxnLst/>
            <a:rect l="l" t="t" r="r" b="b"/>
            <a:pathLst>
              <a:path w="10614526" h="1273743">
                <a:moveTo>
                  <a:pt x="0" y="0"/>
                </a:moveTo>
                <a:lnTo>
                  <a:pt x="10614526" y="0"/>
                </a:lnTo>
                <a:lnTo>
                  <a:pt x="10614526" y="1273743"/>
                </a:lnTo>
                <a:lnTo>
                  <a:pt x="0" y="1273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577160">
            <a:off x="-1634703" y="1585279"/>
            <a:ext cx="10614526" cy="1273743"/>
          </a:xfrm>
          <a:custGeom>
            <a:avLst/>
            <a:gdLst/>
            <a:ahLst/>
            <a:cxnLst/>
            <a:rect l="l" t="t" r="r" b="b"/>
            <a:pathLst>
              <a:path w="10614526" h="1273743">
                <a:moveTo>
                  <a:pt x="0" y="0"/>
                </a:moveTo>
                <a:lnTo>
                  <a:pt x="10614526" y="0"/>
                </a:lnTo>
                <a:lnTo>
                  <a:pt x="10614526" y="1273743"/>
                </a:lnTo>
                <a:lnTo>
                  <a:pt x="0" y="1273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577160">
            <a:off x="-2297280" y="742748"/>
            <a:ext cx="22020686" cy="2642482"/>
          </a:xfrm>
          <a:custGeom>
            <a:avLst/>
            <a:gdLst/>
            <a:ahLst/>
            <a:cxnLst/>
            <a:rect l="l" t="t" r="r" b="b"/>
            <a:pathLst>
              <a:path w="22020686" h="2642482">
                <a:moveTo>
                  <a:pt x="0" y="0"/>
                </a:moveTo>
                <a:lnTo>
                  <a:pt x="22020686" y="0"/>
                </a:lnTo>
                <a:lnTo>
                  <a:pt x="22020686" y="2642482"/>
                </a:lnTo>
                <a:lnTo>
                  <a:pt x="0" y="26424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577160">
            <a:off x="-1030546" y="3299380"/>
            <a:ext cx="22217099" cy="2666052"/>
          </a:xfrm>
          <a:custGeom>
            <a:avLst/>
            <a:gdLst/>
            <a:ahLst/>
            <a:cxnLst/>
            <a:rect l="l" t="t" r="r" b="b"/>
            <a:pathLst>
              <a:path w="22217099" h="2666052">
                <a:moveTo>
                  <a:pt x="0" y="0"/>
                </a:moveTo>
                <a:lnTo>
                  <a:pt x="22217099" y="0"/>
                </a:lnTo>
                <a:lnTo>
                  <a:pt x="22217099" y="2666052"/>
                </a:lnTo>
                <a:lnTo>
                  <a:pt x="0" y="266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t="-366666" b="-36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577160">
            <a:off x="7203522" y="7092602"/>
            <a:ext cx="12542480" cy="1556121"/>
          </a:xfrm>
          <a:custGeom>
            <a:avLst/>
            <a:gdLst/>
            <a:ahLst/>
            <a:cxnLst/>
            <a:rect l="l" t="t" r="r" b="b"/>
            <a:pathLst>
              <a:path w="12542480" h="1556121">
                <a:moveTo>
                  <a:pt x="0" y="0"/>
                </a:moveTo>
                <a:lnTo>
                  <a:pt x="12542480" y="0"/>
                </a:lnTo>
                <a:lnTo>
                  <a:pt x="12542480" y="1556121"/>
                </a:lnTo>
                <a:lnTo>
                  <a:pt x="0" y="15561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 r="-33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47800" y="2872669"/>
            <a:ext cx="15087600" cy="412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349"/>
              </a:lnSpc>
              <a:spcBef>
                <a:spcPct val="0"/>
              </a:spcBef>
            </a:pPr>
            <a:r>
              <a:rPr lang="en-US" sz="28415" b="1" spc="-653" dirty="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FortiGate</a:t>
            </a:r>
          </a:p>
        </p:txBody>
      </p:sp>
      <p:sp>
        <p:nvSpPr>
          <p:cNvPr id="12" name="Freeform 12"/>
          <p:cNvSpPr/>
          <p:nvPr/>
        </p:nvSpPr>
        <p:spPr>
          <a:xfrm rot="-1577160">
            <a:off x="10300737" y="8331004"/>
            <a:ext cx="10614526" cy="1273743"/>
          </a:xfrm>
          <a:custGeom>
            <a:avLst/>
            <a:gdLst/>
            <a:ahLst/>
            <a:cxnLst/>
            <a:rect l="l" t="t" r="r" b="b"/>
            <a:pathLst>
              <a:path w="10614526" h="1273743">
                <a:moveTo>
                  <a:pt x="0" y="0"/>
                </a:moveTo>
                <a:lnTo>
                  <a:pt x="10614526" y="0"/>
                </a:lnTo>
                <a:lnTo>
                  <a:pt x="10614526" y="1273743"/>
                </a:lnTo>
                <a:lnTo>
                  <a:pt x="0" y="1273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577160">
            <a:off x="-3120482" y="-561727"/>
            <a:ext cx="10614526" cy="1273743"/>
          </a:xfrm>
          <a:custGeom>
            <a:avLst/>
            <a:gdLst/>
            <a:ahLst/>
            <a:cxnLst/>
            <a:rect l="l" t="t" r="r" b="b"/>
            <a:pathLst>
              <a:path w="10614526" h="1273743">
                <a:moveTo>
                  <a:pt x="0" y="0"/>
                </a:moveTo>
                <a:lnTo>
                  <a:pt x="10614526" y="0"/>
                </a:lnTo>
                <a:lnTo>
                  <a:pt x="10614526" y="1273743"/>
                </a:lnTo>
                <a:lnTo>
                  <a:pt x="0" y="1273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4635484" y="-3564284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3" y="0"/>
                </a:lnTo>
                <a:lnTo>
                  <a:pt x="12739873" y="10414845"/>
                </a:lnTo>
                <a:lnTo>
                  <a:pt x="0" y="10414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490664" y="4141270"/>
            <a:ext cx="2240371" cy="2004459"/>
            <a:chOff x="0" y="0"/>
            <a:chExt cx="590057" cy="5279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073421" y="5143500"/>
            <a:ext cx="6900696" cy="3595502"/>
            <a:chOff x="0" y="0"/>
            <a:chExt cx="1954710" cy="1018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86387" y="0"/>
                  </a:moveTo>
                  <a:lnTo>
                    <a:pt x="1868324" y="0"/>
                  </a:lnTo>
                  <a:cubicBezTo>
                    <a:pt x="1916034" y="0"/>
                    <a:pt x="1954710" y="38677"/>
                    <a:pt x="1954710" y="86387"/>
                  </a:cubicBezTo>
                  <a:lnTo>
                    <a:pt x="1954710" y="932085"/>
                  </a:lnTo>
                  <a:cubicBezTo>
                    <a:pt x="1954710" y="954996"/>
                    <a:pt x="1945609" y="976969"/>
                    <a:pt x="1929408" y="993170"/>
                  </a:cubicBezTo>
                  <a:cubicBezTo>
                    <a:pt x="1913207" y="1009370"/>
                    <a:pt x="1891235" y="1018472"/>
                    <a:pt x="1868324" y="1018472"/>
                  </a:cubicBezTo>
                  <a:lnTo>
                    <a:pt x="86387" y="1018472"/>
                  </a:lnTo>
                  <a:cubicBezTo>
                    <a:pt x="38677" y="1018472"/>
                    <a:pt x="0" y="979795"/>
                    <a:pt x="0" y="932085"/>
                  </a:cubicBezTo>
                  <a:lnTo>
                    <a:pt x="0" y="86387"/>
                  </a:lnTo>
                  <a:cubicBezTo>
                    <a:pt x="0" y="63475"/>
                    <a:pt x="9101" y="41503"/>
                    <a:pt x="25302" y="25302"/>
                  </a:cubicBezTo>
                  <a:cubicBezTo>
                    <a:pt x="41503" y="9101"/>
                    <a:pt x="63475" y="0"/>
                    <a:pt x="86387" y="0"/>
                  </a:cubicBezTo>
                  <a:close/>
                </a:path>
              </a:pathLst>
            </a:custGeom>
            <a:blipFill>
              <a:blip r:embed="rId5"/>
              <a:stretch>
                <a:fillRect t="-9054" b="-905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6279134" y="4144564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7" y="0"/>
                </a:lnTo>
                <a:lnTo>
                  <a:pt x="1389967" y="1324259"/>
                </a:lnTo>
                <a:lnTo>
                  <a:pt x="0" y="1324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34453" y="1379510"/>
            <a:ext cx="8338968" cy="112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r>
              <a:rPr lang="en-US" sz="7233" b="1" spc="-166" dirty="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 FortiGate Interface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268" y="4323344"/>
            <a:ext cx="12242620" cy="406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3"/>
              </a:lnSpc>
            </a:pPr>
            <a:endParaRPr dirty="0"/>
          </a:p>
          <a:p>
            <a:pPr algn="l">
              <a:lnSpc>
                <a:spcPts val="4613"/>
              </a:lnSpc>
            </a:pPr>
            <a:r>
              <a:rPr lang="en-US" sz="284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Three main interfaces:</a:t>
            </a:r>
          </a:p>
          <a:p>
            <a:pPr marL="614515" lvl="1" indent="-307258" algn="l">
              <a:lnSpc>
                <a:spcPts val="4613"/>
              </a:lnSpc>
              <a:buFont typeface="Arial"/>
              <a:buChar char="•"/>
            </a:pPr>
            <a:r>
              <a:rPr lang="en-US" sz="284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 Interface: connected to core switch</a:t>
            </a:r>
          </a:p>
          <a:p>
            <a:pPr marL="614515" lvl="1" indent="-307258" algn="l">
              <a:lnSpc>
                <a:spcPts val="4613"/>
              </a:lnSpc>
              <a:buFont typeface="Arial"/>
              <a:buChar char="•"/>
            </a:pPr>
            <a:r>
              <a:rPr lang="en-US" sz="284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WAN Interface: provides Internet access</a:t>
            </a:r>
          </a:p>
          <a:p>
            <a:pPr marL="614515" lvl="1" indent="-307258" algn="l">
              <a:lnSpc>
                <a:spcPts val="4613"/>
              </a:lnSpc>
              <a:buFont typeface="Arial"/>
              <a:buChar char="•"/>
            </a:pPr>
            <a:r>
              <a:rPr lang="en-US" sz="284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Management Interface: secure admin access only</a:t>
            </a:r>
          </a:p>
          <a:p>
            <a:pPr algn="l">
              <a:lnSpc>
                <a:spcPts val="4613"/>
              </a:lnSpc>
            </a:pPr>
            <a:endParaRPr lang="en-US" sz="284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613"/>
              </a:lnSpc>
            </a:pPr>
            <a:endParaRPr lang="en-US" sz="284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14436" y="1379510"/>
            <a:ext cx="8464698" cy="1121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7229" b="1" spc="-166" dirty="0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Configuration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490664" y="4141270"/>
            <a:ext cx="2240371" cy="2004459"/>
            <a:chOff x="0" y="0"/>
            <a:chExt cx="590057" cy="5279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417296" y="3192765"/>
            <a:ext cx="11641327" cy="6065535"/>
            <a:chOff x="0" y="0"/>
            <a:chExt cx="1954710" cy="1018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51208" y="0"/>
                  </a:moveTo>
                  <a:lnTo>
                    <a:pt x="1903502" y="0"/>
                  </a:lnTo>
                  <a:cubicBezTo>
                    <a:pt x="1931784" y="0"/>
                    <a:pt x="1954710" y="22927"/>
                    <a:pt x="1954710" y="51208"/>
                  </a:cubicBezTo>
                  <a:lnTo>
                    <a:pt x="1954710" y="967264"/>
                  </a:lnTo>
                  <a:cubicBezTo>
                    <a:pt x="1954710" y="980845"/>
                    <a:pt x="1949315" y="993870"/>
                    <a:pt x="1939712" y="1003473"/>
                  </a:cubicBezTo>
                  <a:cubicBezTo>
                    <a:pt x="1930108" y="1013077"/>
                    <a:pt x="1917083" y="1018472"/>
                    <a:pt x="1903502" y="1018472"/>
                  </a:cubicBezTo>
                  <a:lnTo>
                    <a:pt x="51208" y="1018472"/>
                  </a:lnTo>
                  <a:cubicBezTo>
                    <a:pt x="22927" y="1018472"/>
                    <a:pt x="0" y="995545"/>
                    <a:pt x="0" y="967264"/>
                  </a:cubicBezTo>
                  <a:lnTo>
                    <a:pt x="0" y="51208"/>
                  </a:lnTo>
                  <a:cubicBezTo>
                    <a:pt x="0" y="22927"/>
                    <a:pt x="22927" y="0"/>
                    <a:pt x="51208" y="0"/>
                  </a:cubicBezTo>
                  <a:close/>
                </a:path>
              </a:pathLst>
            </a:custGeom>
            <a:blipFill>
              <a:blip r:embed="rId5"/>
              <a:stretch>
                <a:fillRect l="-7493" r="-74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98465" y="1379529"/>
            <a:ext cx="8338968" cy="112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r>
              <a:rPr lang="en-US" sz="7233" b="1" spc="-166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OSPF Dynamic VLAN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885593"/>
            <a:ext cx="6253956" cy="7180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3"/>
              </a:lnSpc>
            </a:pPr>
            <a:endParaRPr dirty="0"/>
          </a:p>
          <a:p>
            <a:pPr marL="631726" lvl="1" indent="-315863" algn="l">
              <a:lnSpc>
                <a:spcPts val="4743"/>
              </a:lnSpc>
              <a:buFont typeface="Arial"/>
              <a:buChar char="•"/>
            </a:pPr>
            <a:r>
              <a:rPr lang="en-US" sz="292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OSPF enabled on the FortiGate</a:t>
            </a:r>
          </a:p>
          <a:p>
            <a:pPr marL="631726" lvl="1" indent="-315863" algn="l">
              <a:lnSpc>
                <a:spcPts val="4743"/>
              </a:lnSpc>
              <a:buFont typeface="Arial"/>
              <a:buChar char="•"/>
            </a:pPr>
            <a:endParaRPr lang="en-US" sz="292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1726" lvl="1" indent="-315863" algn="l">
              <a:lnSpc>
                <a:spcPts val="4743"/>
              </a:lnSpc>
              <a:buFont typeface="Arial"/>
              <a:buChar char="•"/>
            </a:pPr>
            <a:r>
              <a:rPr lang="en-US" sz="292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Firewall learns all VLANs dynamically from Core switch</a:t>
            </a:r>
          </a:p>
          <a:p>
            <a:pPr marL="631726" lvl="1" indent="-315863" algn="l">
              <a:lnSpc>
                <a:spcPts val="4743"/>
              </a:lnSpc>
              <a:buFont typeface="Arial"/>
              <a:buChar char="•"/>
            </a:pPr>
            <a:endParaRPr lang="en-US" sz="292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1726" lvl="1" indent="-315863" algn="l">
              <a:lnSpc>
                <a:spcPts val="4743"/>
              </a:lnSpc>
              <a:buFont typeface="Arial"/>
              <a:buChar char="•"/>
            </a:pPr>
            <a:r>
              <a:rPr lang="en-US" sz="292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Reduces manual configuration</a:t>
            </a:r>
          </a:p>
          <a:p>
            <a:pPr marL="631726" lvl="1" indent="-315863" algn="l">
              <a:lnSpc>
                <a:spcPts val="4743"/>
              </a:lnSpc>
              <a:buFont typeface="Arial"/>
              <a:buChar char="•"/>
            </a:pPr>
            <a:endParaRPr lang="en-US" sz="292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1726" lvl="1" indent="-315863" algn="l">
              <a:lnSpc>
                <a:spcPts val="4743"/>
              </a:lnSpc>
              <a:buFont typeface="Arial"/>
              <a:buChar char="•"/>
            </a:pPr>
            <a:r>
              <a:rPr lang="en-US" sz="292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Improves scalability</a:t>
            </a:r>
          </a:p>
          <a:p>
            <a:pPr algn="l">
              <a:lnSpc>
                <a:spcPts val="4743"/>
              </a:lnSpc>
            </a:pPr>
            <a:endParaRPr lang="en-US" sz="292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91889" y="1379529"/>
            <a:ext cx="8464698" cy="1121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7229" b="1" spc="-166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0431">
            <a:off x="11392703" y="442812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4" y="0"/>
                </a:lnTo>
                <a:lnTo>
                  <a:pt x="13790594" y="14960209"/>
                </a:lnTo>
                <a:lnTo>
                  <a:pt x="0" y="14960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183212" y="3133273"/>
            <a:ext cx="9664272" cy="6125027"/>
            <a:chOff x="0" y="0"/>
            <a:chExt cx="1954710" cy="12388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4710" cy="1238857"/>
            </a:xfrm>
            <a:custGeom>
              <a:avLst/>
              <a:gdLst/>
              <a:ahLst/>
              <a:cxnLst/>
              <a:rect l="l" t="t" r="r" b="b"/>
              <a:pathLst>
                <a:path w="1954710" h="1238857">
                  <a:moveTo>
                    <a:pt x="61684" y="0"/>
                  </a:moveTo>
                  <a:lnTo>
                    <a:pt x="1893027" y="0"/>
                  </a:lnTo>
                  <a:cubicBezTo>
                    <a:pt x="1909386" y="0"/>
                    <a:pt x="1925076" y="6499"/>
                    <a:pt x="1936643" y="18067"/>
                  </a:cubicBezTo>
                  <a:cubicBezTo>
                    <a:pt x="1948211" y="29635"/>
                    <a:pt x="1954710" y="45324"/>
                    <a:pt x="1954710" y="61684"/>
                  </a:cubicBezTo>
                  <a:lnTo>
                    <a:pt x="1954710" y="1177173"/>
                  </a:lnTo>
                  <a:cubicBezTo>
                    <a:pt x="1954710" y="1193533"/>
                    <a:pt x="1948211" y="1209222"/>
                    <a:pt x="1936643" y="1220790"/>
                  </a:cubicBezTo>
                  <a:cubicBezTo>
                    <a:pt x="1925076" y="1232358"/>
                    <a:pt x="1909386" y="1238857"/>
                    <a:pt x="1893027" y="1238857"/>
                  </a:cubicBezTo>
                  <a:lnTo>
                    <a:pt x="61684" y="1238857"/>
                  </a:lnTo>
                  <a:cubicBezTo>
                    <a:pt x="45324" y="1238857"/>
                    <a:pt x="29635" y="1232358"/>
                    <a:pt x="18067" y="1220790"/>
                  </a:cubicBezTo>
                  <a:cubicBezTo>
                    <a:pt x="6499" y="1209222"/>
                    <a:pt x="0" y="1193533"/>
                    <a:pt x="0" y="1177173"/>
                  </a:cubicBezTo>
                  <a:lnTo>
                    <a:pt x="0" y="61684"/>
                  </a:lnTo>
                  <a:cubicBezTo>
                    <a:pt x="0" y="45324"/>
                    <a:pt x="6499" y="29635"/>
                    <a:pt x="18067" y="18067"/>
                  </a:cubicBezTo>
                  <a:cubicBezTo>
                    <a:pt x="29635" y="6499"/>
                    <a:pt x="45324" y="0"/>
                    <a:pt x="61684" y="0"/>
                  </a:cubicBezTo>
                  <a:close/>
                </a:path>
              </a:pathLst>
            </a:custGeom>
            <a:blipFill>
              <a:blip r:embed="rId5"/>
              <a:stretch>
                <a:fillRect l="-19336" r="-193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4453" y="1379510"/>
            <a:ext cx="8338968" cy="112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r>
              <a:rPr lang="en-US" sz="7233" b="1" spc="-166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Firewall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9197" y="3991253"/>
            <a:ext cx="8290264" cy="526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5"/>
              </a:lnSpc>
            </a:pPr>
            <a:endParaRPr dirty="0"/>
          </a:p>
          <a:p>
            <a:pPr algn="l">
              <a:lnSpc>
                <a:spcPts val="4645"/>
              </a:lnSpc>
            </a:pPr>
            <a:r>
              <a:rPr lang="en-US" sz="28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LAN → WAN Policy:</a:t>
            </a:r>
          </a:p>
          <a:p>
            <a:pPr marL="618744" lvl="1" indent="-309372" algn="l">
              <a:lnSpc>
                <a:spcPts val="4645"/>
              </a:lnSpc>
              <a:buFont typeface="Arial"/>
              <a:buChar char="•"/>
            </a:pPr>
            <a:r>
              <a:rPr lang="en-US" sz="28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Allows internal users to access Internet</a:t>
            </a:r>
          </a:p>
          <a:p>
            <a:pPr marL="618744" lvl="1" indent="-309372" algn="l">
              <a:lnSpc>
                <a:spcPts val="4645"/>
              </a:lnSpc>
              <a:buFont typeface="Arial"/>
              <a:buChar char="•"/>
            </a:pPr>
            <a:r>
              <a:rPr lang="en-US" sz="28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 enabled</a:t>
            </a:r>
          </a:p>
          <a:p>
            <a:pPr algn="l">
              <a:lnSpc>
                <a:spcPts val="4645"/>
              </a:lnSpc>
            </a:pPr>
            <a:r>
              <a:rPr lang="en-US" sz="28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WAN → LAN Policy:</a:t>
            </a:r>
          </a:p>
          <a:p>
            <a:pPr marL="618744" lvl="1" indent="-309372" algn="l">
              <a:lnSpc>
                <a:spcPts val="4645"/>
              </a:lnSpc>
              <a:buFont typeface="Arial"/>
              <a:buChar char="•"/>
            </a:pPr>
            <a:r>
              <a:rPr lang="en-US" sz="28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Allows external access to published internal services</a:t>
            </a:r>
          </a:p>
          <a:p>
            <a:pPr marL="618744" lvl="1" indent="-309372" algn="l">
              <a:lnSpc>
                <a:spcPts val="4645"/>
              </a:lnSpc>
              <a:buFont typeface="Arial"/>
              <a:buChar char="•"/>
            </a:pPr>
            <a:r>
              <a:rPr lang="en-US" sz="28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Secured by filtering profiles</a:t>
            </a:r>
          </a:p>
          <a:p>
            <a:pPr algn="l">
              <a:lnSpc>
                <a:spcPts val="4645"/>
              </a:lnSpc>
            </a:pPr>
            <a:endParaRPr lang="en-US" sz="286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87112" y="1379510"/>
            <a:ext cx="8464698" cy="1121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7229" b="1" spc="-166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Policies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8345" y="-379413"/>
            <a:ext cx="20074552" cy="11241749"/>
          </a:xfrm>
          <a:custGeom>
            <a:avLst/>
            <a:gdLst/>
            <a:ahLst/>
            <a:cxnLst/>
            <a:rect l="l" t="t" r="r" b="b"/>
            <a:pathLst>
              <a:path w="20074552" h="11241749">
                <a:moveTo>
                  <a:pt x="0" y="0"/>
                </a:moveTo>
                <a:lnTo>
                  <a:pt x="20074553" y="0"/>
                </a:lnTo>
                <a:lnTo>
                  <a:pt x="20074553" y="11241749"/>
                </a:lnTo>
                <a:lnTo>
                  <a:pt x="0" y="11241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5490664" y="4141270"/>
            <a:ext cx="2240371" cy="2004459"/>
            <a:chOff x="0" y="0"/>
            <a:chExt cx="590057" cy="5279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1186744" y="5143500"/>
            <a:ext cx="6900696" cy="3595502"/>
            <a:chOff x="0" y="0"/>
            <a:chExt cx="1954710" cy="10184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86387" y="0"/>
                  </a:moveTo>
                  <a:lnTo>
                    <a:pt x="1868324" y="0"/>
                  </a:lnTo>
                  <a:cubicBezTo>
                    <a:pt x="1916034" y="0"/>
                    <a:pt x="1954710" y="38677"/>
                    <a:pt x="1954710" y="86387"/>
                  </a:cubicBezTo>
                  <a:lnTo>
                    <a:pt x="1954710" y="932085"/>
                  </a:lnTo>
                  <a:cubicBezTo>
                    <a:pt x="1954710" y="954996"/>
                    <a:pt x="1945609" y="976969"/>
                    <a:pt x="1929408" y="993170"/>
                  </a:cubicBezTo>
                  <a:cubicBezTo>
                    <a:pt x="1913207" y="1009370"/>
                    <a:pt x="1891235" y="1018472"/>
                    <a:pt x="1868324" y="1018472"/>
                  </a:cubicBezTo>
                  <a:lnTo>
                    <a:pt x="86387" y="1018472"/>
                  </a:lnTo>
                  <a:cubicBezTo>
                    <a:pt x="38677" y="1018472"/>
                    <a:pt x="0" y="979795"/>
                    <a:pt x="0" y="932085"/>
                  </a:cubicBezTo>
                  <a:lnTo>
                    <a:pt x="0" y="86387"/>
                  </a:lnTo>
                  <a:cubicBezTo>
                    <a:pt x="0" y="63475"/>
                    <a:pt x="9101" y="41503"/>
                    <a:pt x="25302" y="25302"/>
                  </a:cubicBezTo>
                  <a:cubicBezTo>
                    <a:pt x="41503" y="9101"/>
                    <a:pt x="63475" y="0"/>
                    <a:pt x="86387" y="0"/>
                  </a:cubicBezTo>
                  <a:close/>
                </a:path>
              </a:pathLst>
            </a:custGeom>
            <a:blipFill>
              <a:blip r:embed="rId2"/>
              <a:stretch>
                <a:fillRect t="-3739" b="-37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7133" y="1267152"/>
            <a:ext cx="8338968" cy="3388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r>
              <a:rPr lang="en-US" sz="7233" b="1" u="none" strike="noStrike" spc="-166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Security Profiles Applied</a:t>
            </a:r>
          </a:p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endParaRPr lang="en-US" sz="7233" b="1" u="none" strike="noStrike" spc="-166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endParaRPr lang="en-US" sz="7233" b="1" u="none" strike="noStrike" spc="-166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7133" y="3208602"/>
            <a:ext cx="11629576" cy="604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9"/>
              </a:lnSpc>
            </a:pPr>
            <a:endParaRPr dirty="0"/>
          </a:p>
          <a:p>
            <a:pPr algn="l">
              <a:lnSpc>
                <a:spcPts val="4869"/>
              </a:lnSpc>
            </a:pPr>
            <a:r>
              <a:rPr lang="en-US" sz="300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Antivirus:</a:t>
            </a:r>
          </a:p>
          <a:p>
            <a:pPr marL="648511" lvl="1" indent="-324256" algn="l">
              <a:lnSpc>
                <a:spcPts val="4869"/>
              </a:lnSpc>
              <a:buFont typeface="Arial"/>
              <a:buChar char="•"/>
            </a:pPr>
            <a:r>
              <a:rPr lang="en-US" sz="300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Applied on inbound WAN → LAN traffic</a:t>
            </a:r>
          </a:p>
          <a:p>
            <a:pPr marL="648511" lvl="1" indent="-324256" algn="l">
              <a:lnSpc>
                <a:spcPts val="4869"/>
              </a:lnSpc>
              <a:buFont typeface="Arial"/>
              <a:buChar char="•"/>
            </a:pPr>
            <a:r>
              <a:rPr lang="en-US" sz="300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Protects against malware/viruses</a:t>
            </a:r>
          </a:p>
          <a:p>
            <a:pPr algn="l">
              <a:lnSpc>
                <a:spcPts val="4869"/>
              </a:lnSpc>
            </a:pPr>
            <a:r>
              <a:rPr lang="en-US" sz="300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Web Filter:</a:t>
            </a:r>
          </a:p>
          <a:p>
            <a:pPr marL="648511" lvl="1" indent="-324256" algn="l">
              <a:lnSpc>
                <a:spcPts val="4869"/>
              </a:lnSpc>
              <a:buFont typeface="Arial"/>
              <a:buChar char="•"/>
            </a:pPr>
            <a:r>
              <a:rPr lang="en-US" sz="300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Applied on LAN → WAN</a:t>
            </a:r>
          </a:p>
          <a:p>
            <a:pPr marL="648511" lvl="1" indent="-324256" algn="l">
              <a:lnSpc>
                <a:spcPts val="4869"/>
              </a:lnSpc>
              <a:buFont typeface="Arial"/>
              <a:buChar char="•"/>
            </a:pPr>
            <a:r>
              <a:rPr lang="en-US" sz="300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Blocks harmful &amp; non-business websites</a:t>
            </a:r>
          </a:p>
          <a:p>
            <a:pPr algn="l">
              <a:lnSpc>
                <a:spcPts val="4869"/>
              </a:lnSpc>
            </a:pPr>
            <a:r>
              <a:rPr lang="en-US" sz="300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Application Control:</a:t>
            </a:r>
          </a:p>
          <a:p>
            <a:pPr marL="648511" lvl="1" indent="-324256" algn="l">
              <a:lnSpc>
                <a:spcPts val="4869"/>
              </a:lnSpc>
              <a:buFont typeface="Arial"/>
              <a:buChar char="•"/>
            </a:pPr>
            <a:r>
              <a:rPr lang="en-US" sz="300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Blocks social media and productivity-reducing apps</a:t>
            </a:r>
          </a:p>
          <a:p>
            <a:pPr algn="l">
              <a:lnSpc>
                <a:spcPts val="4869"/>
              </a:lnSpc>
            </a:pPr>
            <a:endParaRPr lang="en-US" sz="3003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0431">
            <a:off x="11039771" y="4472660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09"/>
                </a:lnTo>
                <a:lnTo>
                  <a:pt x="0" y="14960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5667878" y="3326570"/>
            <a:ext cx="12620122" cy="6575521"/>
            <a:chOff x="0" y="0"/>
            <a:chExt cx="1954710" cy="10184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47236" y="0"/>
                  </a:moveTo>
                  <a:lnTo>
                    <a:pt x="1907474" y="0"/>
                  </a:lnTo>
                  <a:cubicBezTo>
                    <a:pt x="1920002" y="0"/>
                    <a:pt x="1932016" y="4977"/>
                    <a:pt x="1940875" y="13835"/>
                  </a:cubicBezTo>
                  <a:cubicBezTo>
                    <a:pt x="1949734" y="22694"/>
                    <a:pt x="1954710" y="34708"/>
                    <a:pt x="1954710" y="47236"/>
                  </a:cubicBezTo>
                  <a:lnTo>
                    <a:pt x="1954710" y="971235"/>
                  </a:lnTo>
                  <a:cubicBezTo>
                    <a:pt x="1954710" y="983763"/>
                    <a:pt x="1949734" y="995778"/>
                    <a:pt x="1940875" y="1004636"/>
                  </a:cubicBezTo>
                  <a:cubicBezTo>
                    <a:pt x="1932016" y="1013495"/>
                    <a:pt x="1920002" y="1018472"/>
                    <a:pt x="1907474" y="1018472"/>
                  </a:cubicBezTo>
                  <a:lnTo>
                    <a:pt x="47236" y="1018472"/>
                  </a:lnTo>
                  <a:cubicBezTo>
                    <a:pt x="34708" y="1018472"/>
                    <a:pt x="22694" y="1013495"/>
                    <a:pt x="13835" y="1004636"/>
                  </a:cubicBezTo>
                  <a:cubicBezTo>
                    <a:pt x="4977" y="995778"/>
                    <a:pt x="0" y="983763"/>
                    <a:pt x="0" y="971235"/>
                  </a:cubicBezTo>
                  <a:lnTo>
                    <a:pt x="0" y="47236"/>
                  </a:lnTo>
                  <a:cubicBezTo>
                    <a:pt x="0" y="34708"/>
                    <a:pt x="4977" y="22694"/>
                    <a:pt x="13835" y="13835"/>
                  </a:cubicBezTo>
                  <a:cubicBezTo>
                    <a:pt x="22694" y="4977"/>
                    <a:pt x="34708" y="0"/>
                    <a:pt x="47236" y="0"/>
                  </a:cubicBezTo>
                  <a:close/>
                </a:path>
              </a:pathLst>
            </a:custGeom>
            <a:blipFill>
              <a:blip r:embed="rId5"/>
              <a:stretch>
                <a:fillRect l="-7493" r="-74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98394" y="1379529"/>
            <a:ext cx="8338968" cy="112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r>
              <a:rPr lang="en-US" sz="7233" b="1" spc="-166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IPsec VPN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1058" y="3221795"/>
            <a:ext cx="4401854" cy="637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endParaRPr dirty="0"/>
          </a:p>
          <a:p>
            <a:pPr algn="l">
              <a:lnSpc>
                <a:spcPts val="4207"/>
              </a:lnSpc>
            </a:pPr>
            <a:r>
              <a:rPr lang="en-US" sz="259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site-to-site VPN tunnel was configured:</a:t>
            </a:r>
          </a:p>
          <a:p>
            <a:pPr marL="560410" lvl="1" indent="-280205" algn="l">
              <a:lnSpc>
                <a:spcPts val="4207"/>
              </a:lnSpc>
              <a:buFont typeface="Arial"/>
              <a:buChar char="•"/>
            </a:pPr>
            <a:r>
              <a:rPr lang="en-US" sz="259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Phase 1 &amp; Phase 2 completed</a:t>
            </a:r>
          </a:p>
          <a:p>
            <a:pPr marL="560410" lvl="1" indent="-280205" algn="l">
              <a:lnSpc>
                <a:spcPts val="4207"/>
              </a:lnSpc>
              <a:buFont typeface="Arial"/>
              <a:buChar char="•"/>
            </a:pPr>
            <a:r>
              <a:rPr lang="en-US" sz="259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Tunnel up and stable</a:t>
            </a:r>
          </a:p>
          <a:p>
            <a:pPr marL="560410" lvl="1" indent="-280205" algn="l">
              <a:lnSpc>
                <a:spcPts val="4207"/>
              </a:lnSpc>
              <a:buFont typeface="Arial"/>
              <a:buChar char="•"/>
            </a:pPr>
            <a:r>
              <a:rPr lang="en-US" sz="259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Routing configured between sites</a:t>
            </a:r>
          </a:p>
          <a:p>
            <a:pPr marL="560410" lvl="1" indent="-280205" algn="l">
              <a:lnSpc>
                <a:spcPts val="4207"/>
              </a:lnSpc>
              <a:buFont typeface="Arial"/>
              <a:buChar char="•"/>
            </a:pPr>
            <a:r>
              <a:rPr lang="en-US" sz="259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Specific VPN policy created</a:t>
            </a:r>
          </a:p>
          <a:p>
            <a:pPr algn="l">
              <a:lnSpc>
                <a:spcPts val="4207"/>
              </a:lnSpc>
            </a:pPr>
            <a:endParaRPr lang="en-US" sz="259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7"/>
              </a:lnSpc>
            </a:pPr>
            <a:endParaRPr lang="en-US" sz="259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911651" y="1379510"/>
            <a:ext cx="8464698" cy="1121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7229" b="1" spc="-166">
                <a:solidFill>
                  <a:srgbClr val="FF654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Connectivity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490664" y="4141270"/>
            <a:ext cx="2240371" cy="2004459"/>
            <a:chOff x="0" y="0"/>
            <a:chExt cx="590057" cy="5279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073421" y="5143500"/>
            <a:ext cx="6900696" cy="3595502"/>
            <a:chOff x="0" y="0"/>
            <a:chExt cx="1954710" cy="1018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86387" y="0"/>
                  </a:moveTo>
                  <a:lnTo>
                    <a:pt x="1868324" y="0"/>
                  </a:lnTo>
                  <a:cubicBezTo>
                    <a:pt x="1916034" y="0"/>
                    <a:pt x="1954710" y="38677"/>
                    <a:pt x="1954710" y="86387"/>
                  </a:cubicBezTo>
                  <a:lnTo>
                    <a:pt x="1954710" y="932085"/>
                  </a:lnTo>
                  <a:cubicBezTo>
                    <a:pt x="1954710" y="954996"/>
                    <a:pt x="1945609" y="976969"/>
                    <a:pt x="1929408" y="993170"/>
                  </a:cubicBezTo>
                  <a:cubicBezTo>
                    <a:pt x="1913207" y="1009370"/>
                    <a:pt x="1891235" y="1018472"/>
                    <a:pt x="1868324" y="1018472"/>
                  </a:cubicBezTo>
                  <a:lnTo>
                    <a:pt x="86387" y="1018472"/>
                  </a:lnTo>
                  <a:cubicBezTo>
                    <a:pt x="38677" y="1018472"/>
                    <a:pt x="0" y="979795"/>
                    <a:pt x="0" y="932085"/>
                  </a:cubicBezTo>
                  <a:lnTo>
                    <a:pt x="0" y="86387"/>
                  </a:lnTo>
                  <a:cubicBezTo>
                    <a:pt x="0" y="63475"/>
                    <a:pt x="9101" y="41503"/>
                    <a:pt x="25302" y="25302"/>
                  </a:cubicBezTo>
                  <a:cubicBezTo>
                    <a:pt x="41503" y="9101"/>
                    <a:pt x="63475" y="0"/>
                    <a:pt x="86387" y="0"/>
                  </a:cubicBezTo>
                  <a:close/>
                </a:path>
              </a:pathLst>
            </a:custGeom>
            <a:blipFill>
              <a:blip r:embed="rId5"/>
              <a:stretch>
                <a:fillRect t="-3241" b="-32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34453" y="1379510"/>
            <a:ext cx="8338968" cy="112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r>
              <a:rPr lang="en-US" sz="7233" b="1" spc="-166" dirty="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Routing on FortiGate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8067" y="4625652"/>
            <a:ext cx="14497538" cy="416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3"/>
              </a:lnSpc>
            </a:pPr>
            <a:endParaRPr dirty="0"/>
          </a:p>
          <a:p>
            <a:pPr marL="727700" lvl="1" indent="-363850" algn="l">
              <a:lnSpc>
                <a:spcPts val="5463"/>
              </a:lnSpc>
              <a:buFont typeface="Arial"/>
              <a:buChar char="•"/>
            </a:pPr>
            <a:r>
              <a:rPr lang="en-US" sz="337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Default Route: 0.0.0.0/0 → WAN gateway</a:t>
            </a:r>
          </a:p>
          <a:p>
            <a:pPr marL="727700" lvl="1" indent="-363850" algn="l">
              <a:lnSpc>
                <a:spcPts val="5463"/>
              </a:lnSpc>
              <a:buFont typeface="Arial"/>
              <a:buChar char="•"/>
            </a:pPr>
            <a:r>
              <a:rPr lang="en-US" sz="337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Inter-branch routing via:</a:t>
            </a:r>
          </a:p>
          <a:p>
            <a:pPr marL="1455400" lvl="2" indent="-485133" algn="l">
              <a:lnSpc>
                <a:spcPts val="5463"/>
              </a:lnSpc>
              <a:buFont typeface="Arial"/>
              <a:buChar char="⚬"/>
            </a:pPr>
            <a:r>
              <a:rPr lang="en-US" sz="337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Static routes or</a:t>
            </a:r>
          </a:p>
          <a:p>
            <a:pPr marL="1455400" lvl="2" indent="-485133" algn="l">
              <a:lnSpc>
                <a:spcPts val="5463"/>
              </a:lnSpc>
              <a:buFont typeface="Arial"/>
              <a:buChar char="⚬"/>
            </a:pPr>
            <a:r>
              <a:rPr lang="en-US" sz="337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OSPF through the VPN tunnel</a:t>
            </a:r>
          </a:p>
          <a:p>
            <a:pPr algn="l">
              <a:lnSpc>
                <a:spcPts val="5463"/>
              </a:lnSpc>
            </a:pPr>
            <a:endParaRPr lang="en-US" sz="337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0431">
            <a:off x="12353492" y="6087656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09"/>
                </a:lnTo>
                <a:lnTo>
                  <a:pt x="0" y="14960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5728265" y="2716456"/>
            <a:ext cx="12817461" cy="6678341"/>
            <a:chOff x="0" y="0"/>
            <a:chExt cx="1954710" cy="10184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46509" y="0"/>
                  </a:moveTo>
                  <a:lnTo>
                    <a:pt x="1908201" y="0"/>
                  </a:lnTo>
                  <a:cubicBezTo>
                    <a:pt x="1933887" y="0"/>
                    <a:pt x="1954710" y="20823"/>
                    <a:pt x="1954710" y="46509"/>
                  </a:cubicBezTo>
                  <a:lnTo>
                    <a:pt x="1954710" y="971963"/>
                  </a:lnTo>
                  <a:cubicBezTo>
                    <a:pt x="1954710" y="984298"/>
                    <a:pt x="1949810" y="996127"/>
                    <a:pt x="1941088" y="1004850"/>
                  </a:cubicBezTo>
                  <a:cubicBezTo>
                    <a:pt x="1932366" y="1013572"/>
                    <a:pt x="1920536" y="1018472"/>
                    <a:pt x="1908201" y="1018472"/>
                  </a:cubicBezTo>
                  <a:lnTo>
                    <a:pt x="46509" y="1018472"/>
                  </a:lnTo>
                  <a:cubicBezTo>
                    <a:pt x="20823" y="1018472"/>
                    <a:pt x="0" y="997649"/>
                    <a:pt x="0" y="971963"/>
                  </a:cubicBezTo>
                  <a:lnTo>
                    <a:pt x="0" y="46509"/>
                  </a:lnTo>
                  <a:cubicBezTo>
                    <a:pt x="0" y="20823"/>
                    <a:pt x="20823" y="0"/>
                    <a:pt x="46509" y="0"/>
                  </a:cubicBezTo>
                  <a:close/>
                </a:path>
              </a:pathLst>
            </a:custGeom>
            <a:blipFill>
              <a:blip r:embed="rId5"/>
              <a:stretch>
                <a:fillRect l="-7394" r="-739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8197" y="434794"/>
            <a:ext cx="15239664" cy="296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32"/>
              </a:lnSpc>
            </a:pPr>
            <a:r>
              <a:rPr lang="en-US" sz="9511" b="1" spc="-218" dirty="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High Availability (HA)</a:t>
            </a:r>
          </a:p>
          <a:p>
            <a:pPr marL="0" lvl="0" indent="0" algn="l">
              <a:lnSpc>
                <a:spcPts val="11832"/>
              </a:lnSpc>
              <a:spcBef>
                <a:spcPct val="0"/>
              </a:spcBef>
            </a:pPr>
            <a:endParaRPr lang="en-US" sz="9511" b="1" spc="-218" dirty="0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197237" y="3001895"/>
            <a:ext cx="5518444" cy="686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7"/>
              </a:lnSpc>
            </a:pPr>
            <a:endParaRPr/>
          </a:p>
          <a:p>
            <a:pPr marL="806841" lvl="1" indent="-403420" algn="l">
              <a:lnSpc>
                <a:spcPts val="6057"/>
              </a:lnSpc>
              <a:buFont typeface="Arial"/>
              <a:buChar char="•"/>
            </a:pPr>
            <a:r>
              <a:rPr lang="en-US" sz="373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Active–Passive HA configuration</a:t>
            </a:r>
          </a:p>
          <a:p>
            <a:pPr marL="806841" lvl="1" indent="-403420" algn="l">
              <a:lnSpc>
                <a:spcPts val="6057"/>
              </a:lnSpc>
              <a:buFont typeface="Arial"/>
              <a:buChar char="•"/>
            </a:pPr>
            <a:r>
              <a:rPr lang="en-US" sz="373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Automatic failover</a:t>
            </a:r>
          </a:p>
          <a:p>
            <a:pPr marL="806841" lvl="1" indent="-403420" algn="l">
              <a:lnSpc>
                <a:spcPts val="6057"/>
              </a:lnSpc>
              <a:buFont typeface="Arial"/>
              <a:buChar char="•"/>
            </a:pPr>
            <a:r>
              <a:rPr lang="en-US" sz="373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Ensures high uptime and business continuity</a:t>
            </a:r>
          </a:p>
          <a:p>
            <a:pPr algn="l">
              <a:lnSpc>
                <a:spcPts val="6057"/>
              </a:lnSpc>
            </a:pPr>
            <a:endParaRPr lang="en-US" sz="373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6057"/>
              </a:lnSpc>
            </a:pPr>
            <a:endParaRPr lang="en-US" sz="373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490664" y="4141270"/>
            <a:ext cx="2240371" cy="2004459"/>
            <a:chOff x="0" y="0"/>
            <a:chExt cx="590057" cy="5279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0057" cy="527923"/>
            </a:xfrm>
            <a:custGeom>
              <a:avLst/>
              <a:gdLst/>
              <a:ahLst/>
              <a:cxnLst/>
              <a:rect l="l" t="t" r="r" b="b"/>
              <a:pathLst>
                <a:path w="590057" h="527923">
                  <a:moveTo>
                    <a:pt x="76024" y="0"/>
                  </a:moveTo>
                  <a:lnTo>
                    <a:pt x="514032" y="0"/>
                  </a:lnTo>
                  <a:cubicBezTo>
                    <a:pt x="556019" y="0"/>
                    <a:pt x="590057" y="34037"/>
                    <a:pt x="590057" y="76024"/>
                  </a:cubicBezTo>
                  <a:lnTo>
                    <a:pt x="590057" y="451899"/>
                  </a:lnTo>
                  <a:cubicBezTo>
                    <a:pt x="590057" y="493886"/>
                    <a:pt x="556019" y="527923"/>
                    <a:pt x="514032" y="527923"/>
                  </a:cubicBezTo>
                  <a:lnTo>
                    <a:pt x="76024" y="527923"/>
                  </a:lnTo>
                  <a:cubicBezTo>
                    <a:pt x="34037" y="527923"/>
                    <a:pt x="0" y="493886"/>
                    <a:pt x="0" y="451899"/>
                  </a:cubicBezTo>
                  <a:lnTo>
                    <a:pt x="0" y="76024"/>
                  </a:lnTo>
                  <a:cubicBezTo>
                    <a:pt x="0" y="34037"/>
                    <a:pt x="34037" y="0"/>
                    <a:pt x="7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47650"/>
              <a:ext cx="590057" cy="77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440431">
            <a:off x="10835738" y="3982797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3" y="0"/>
                </a:lnTo>
                <a:lnTo>
                  <a:pt x="13790593" y="14960210"/>
                </a:lnTo>
                <a:lnTo>
                  <a:pt x="0" y="1496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073421" y="5143500"/>
            <a:ext cx="6900696" cy="3595502"/>
            <a:chOff x="0" y="0"/>
            <a:chExt cx="1954710" cy="1018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4710" cy="1018472"/>
            </a:xfrm>
            <a:custGeom>
              <a:avLst/>
              <a:gdLst/>
              <a:ahLst/>
              <a:cxnLst/>
              <a:rect l="l" t="t" r="r" b="b"/>
              <a:pathLst>
                <a:path w="1954710" h="1018472">
                  <a:moveTo>
                    <a:pt x="86387" y="0"/>
                  </a:moveTo>
                  <a:lnTo>
                    <a:pt x="1868324" y="0"/>
                  </a:lnTo>
                  <a:cubicBezTo>
                    <a:pt x="1916034" y="0"/>
                    <a:pt x="1954710" y="38677"/>
                    <a:pt x="1954710" y="86387"/>
                  </a:cubicBezTo>
                  <a:lnTo>
                    <a:pt x="1954710" y="932085"/>
                  </a:lnTo>
                  <a:cubicBezTo>
                    <a:pt x="1954710" y="954996"/>
                    <a:pt x="1945609" y="976969"/>
                    <a:pt x="1929408" y="993170"/>
                  </a:cubicBezTo>
                  <a:cubicBezTo>
                    <a:pt x="1913207" y="1009370"/>
                    <a:pt x="1891235" y="1018472"/>
                    <a:pt x="1868324" y="1018472"/>
                  </a:cubicBezTo>
                  <a:lnTo>
                    <a:pt x="86387" y="1018472"/>
                  </a:lnTo>
                  <a:cubicBezTo>
                    <a:pt x="38677" y="1018472"/>
                    <a:pt x="0" y="979795"/>
                    <a:pt x="0" y="932085"/>
                  </a:cubicBezTo>
                  <a:lnTo>
                    <a:pt x="0" y="86387"/>
                  </a:lnTo>
                  <a:cubicBezTo>
                    <a:pt x="0" y="63475"/>
                    <a:pt x="9101" y="41503"/>
                    <a:pt x="25302" y="25302"/>
                  </a:cubicBezTo>
                  <a:cubicBezTo>
                    <a:pt x="41503" y="9101"/>
                    <a:pt x="63475" y="0"/>
                    <a:pt x="86387" y="0"/>
                  </a:cubicBezTo>
                  <a:close/>
                </a:path>
              </a:pathLst>
            </a:custGeom>
            <a:blipFill>
              <a:blip r:embed="rId5"/>
              <a:stretch>
                <a:fillRect t="-45962" b="-459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6279134" y="4144564"/>
            <a:ext cx="1389967" cy="1324259"/>
          </a:xfrm>
          <a:custGeom>
            <a:avLst/>
            <a:gdLst/>
            <a:ahLst/>
            <a:cxnLst/>
            <a:rect l="l" t="t" r="r" b="b"/>
            <a:pathLst>
              <a:path w="1389967" h="1324259">
                <a:moveTo>
                  <a:pt x="0" y="0"/>
                </a:moveTo>
                <a:lnTo>
                  <a:pt x="1389967" y="0"/>
                </a:lnTo>
                <a:lnTo>
                  <a:pt x="1389967" y="1324259"/>
                </a:lnTo>
                <a:lnTo>
                  <a:pt x="0" y="1324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34453" y="1379510"/>
            <a:ext cx="8338968" cy="112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r>
              <a:rPr lang="en-US" sz="7233" b="1" spc="-166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Full Network Integration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534" y="3846268"/>
            <a:ext cx="11859142" cy="507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9"/>
              </a:lnSpc>
            </a:pPr>
            <a:endParaRPr/>
          </a:p>
          <a:p>
            <a:pPr algn="l">
              <a:lnSpc>
                <a:spcPts val="4469"/>
              </a:lnSpc>
            </a:pPr>
            <a:r>
              <a:rPr lang="en-US" sz="275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FortiGate firewall integrates fully with the Cisco-based network:</a:t>
            </a:r>
          </a:p>
          <a:p>
            <a:pPr marL="595267" lvl="1" indent="-297633" algn="l">
              <a:lnSpc>
                <a:spcPts val="4469"/>
              </a:lnSpc>
              <a:buFont typeface="Arial"/>
              <a:buChar char="•"/>
            </a:pPr>
            <a:r>
              <a:rPr lang="en-US" sz="275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Learns VLANs dynamically via OSPF</a:t>
            </a:r>
          </a:p>
          <a:p>
            <a:pPr marL="595267" lvl="1" indent="-297633" algn="l">
              <a:lnSpc>
                <a:spcPts val="4469"/>
              </a:lnSpc>
              <a:buFont typeface="Arial"/>
              <a:buChar char="•"/>
            </a:pPr>
            <a:r>
              <a:rPr lang="en-US" sz="275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Secures all inbound &amp; outbound traffic</a:t>
            </a:r>
          </a:p>
          <a:p>
            <a:pPr marL="595267" lvl="1" indent="-297633" algn="l">
              <a:lnSpc>
                <a:spcPts val="4469"/>
              </a:lnSpc>
              <a:buFont typeface="Arial"/>
              <a:buChar char="•"/>
            </a:pPr>
            <a:r>
              <a:rPr lang="en-US" sz="275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Provides VPN connectivity</a:t>
            </a:r>
          </a:p>
          <a:p>
            <a:pPr marL="595267" lvl="1" indent="-297633" algn="l">
              <a:lnSpc>
                <a:spcPts val="4469"/>
              </a:lnSpc>
              <a:buFont typeface="Arial"/>
              <a:buChar char="•"/>
            </a:pPr>
            <a:r>
              <a:rPr lang="en-US" sz="275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 with enterprise VLAN segmentation</a:t>
            </a:r>
          </a:p>
          <a:p>
            <a:pPr marL="595267" lvl="1" indent="-297633" algn="l">
              <a:lnSpc>
                <a:spcPts val="4469"/>
              </a:lnSpc>
              <a:buFont typeface="Arial"/>
              <a:buChar char="•"/>
            </a:pPr>
            <a:r>
              <a:rPr lang="en-US" sz="275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Enhances reliability via HA</a:t>
            </a:r>
          </a:p>
          <a:p>
            <a:pPr algn="l">
              <a:lnSpc>
                <a:spcPts val="4469"/>
              </a:lnSpc>
            </a:pPr>
            <a:endParaRPr lang="en-US" sz="275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80414">
            <a:off x="-3807951" y="-4178723"/>
            <a:ext cx="12739872" cy="10414846"/>
          </a:xfrm>
          <a:custGeom>
            <a:avLst/>
            <a:gdLst/>
            <a:ahLst/>
            <a:cxnLst/>
            <a:rect l="l" t="t" r="r" b="b"/>
            <a:pathLst>
              <a:path w="12739872" h="10414846">
                <a:moveTo>
                  <a:pt x="0" y="0"/>
                </a:moveTo>
                <a:lnTo>
                  <a:pt x="12739872" y="0"/>
                </a:lnTo>
                <a:lnTo>
                  <a:pt x="12739872" y="10414846"/>
                </a:lnTo>
                <a:lnTo>
                  <a:pt x="0" y="1041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440431">
            <a:off x="11392703" y="4095156"/>
            <a:ext cx="13790593" cy="14960209"/>
          </a:xfrm>
          <a:custGeom>
            <a:avLst/>
            <a:gdLst/>
            <a:ahLst/>
            <a:cxnLst/>
            <a:rect l="l" t="t" r="r" b="b"/>
            <a:pathLst>
              <a:path w="13790593" h="14960209">
                <a:moveTo>
                  <a:pt x="0" y="0"/>
                </a:moveTo>
                <a:lnTo>
                  <a:pt x="13790594" y="0"/>
                </a:lnTo>
                <a:lnTo>
                  <a:pt x="13790594" y="14960209"/>
                </a:lnTo>
                <a:lnTo>
                  <a:pt x="0" y="14960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44989" y="511231"/>
            <a:ext cx="10476548" cy="3388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8"/>
              </a:lnSpc>
            </a:pPr>
            <a:r>
              <a:rPr lang="en-US" sz="7233" b="1" spc="-166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Conclusion</a:t>
            </a:r>
          </a:p>
          <a:p>
            <a:pPr algn="l">
              <a:lnSpc>
                <a:spcPts val="8998"/>
              </a:lnSpc>
            </a:pPr>
            <a:endParaRPr lang="en-US" sz="7233" b="1" spc="-166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  <a:p>
            <a:pPr marL="0" lvl="0" indent="0" algn="l">
              <a:lnSpc>
                <a:spcPts val="8998"/>
              </a:lnSpc>
              <a:spcBef>
                <a:spcPct val="0"/>
              </a:spcBef>
            </a:pPr>
            <a:endParaRPr lang="en-US" sz="7233" b="1" spc="-166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067409"/>
            <a:ext cx="16620000" cy="7894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3"/>
              </a:lnSpc>
            </a:pPr>
            <a:endParaRPr dirty="0"/>
          </a:p>
          <a:p>
            <a:pPr algn="l">
              <a:lnSpc>
                <a:spcPts val="6263"/>
              </a:lnSpc>
            </a:pPr>
            <a:r>
              <a:rPr lang="en-US" sz="386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combined Cisco + FortiGate design delivers:</a:t>
            </a:r>
          </a:p>
          <a:p>
            <a:pPr marL="834237" lvl="1" indent="-417118" algn="l">
              <a:lnSpc>
                <a:spcPts val="6263"/>
              </a:lnSpc>
              <a:buFont typeface="Arial"/>
              <a:buChar char="•"/>
            </a:pPr>
            <a:r>
              <a:rPr lang="en-US" sz="386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security</a:t>
            </a:r>
          </a:p>
          <a:p>
            <a:pPr marL="834237" lvl="1" indent="-417118" algn="l">
              <a:lnSpc>
                <a:spcPts val="6263"/>
              </a:lnSpc>
              <a:buFont typeface="Arial"/>
              <a:buChar char="•"/>
            </a:pPr>
            <a:r>
              <a:rPr lang="en-US" sz="386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 redundancy</a:t>
            </a:r>
          </a:p>
          <a:p>
            <a:pPr marL="834237" lvl="1" indent="-417118" algn="l">
              <a:lnSpc>
                <a:spcPts val="6263"/>
              </a:lnSpc>
              <a:buFont typeface="Arial"/>
              <a:buChar char="•"/>
            </a:pPr>
            <a:r>
              <a:rPr lang="en-US" sz="386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Scalable multi-VLAN architecture</a:t>
            </a:r>
          </a:p>
          <a:p>
            <a:pPr marL="834237" lvl="1" indent="-417118" algn="l">
              <a:lnSpc>
                <a:spcPts val="6263"/>
              </a:lnSpc>
              <a:buFont typeface="Arial"/>
              <a:buChar char="•"/>
            </a:pPr>
            <a:r>
              <a:rPr lang="en-US" sz="386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Branch connectivity</a:t>
            </a:r>
          </a:p>
          <a:p>
            <a:pPr marL="834237" lvl="1" indent="-417118" algn="l">
              <a:lnSpc>
                <a:spcPts val="6263"/>
              </a:lnSpc>
              <a:buFont typeface="Arial"/>
              <a:buChar char="•"/>
            </a:pPr>
            <a:r>
              <a:rPr lang="en-US" sz="386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Enterprise-grade protection</a:t>
            </a:r>
          </a:p>
          <a:p>
            <a:pPr algn="l">
              <a:lnSpc>
                <a:spcPts val="6263"/>
              </a:lnSpc>
            </a:pPr>
            <a:r>
              <a:rPr lang="en-US" sz="386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network is ready for expansion and advanced security enhancements.</a:t>
            </a:r>
          </a:p>
          <a:p>
            <a:pPr algn="l">
              <a:lnSpc>
                <a:spcPts val="6263"/>
              </a:lnSpc>
            </a:pPr>
            <a:endParaRPr lang="en-US" sz="3863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429000" y="4437281"/>
            <a:ext cx="18592800" cy="1412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2062"/>
              </a:lnSpc>
            </a:pPr>
            <a:r>
              <a:rPr lang="en-US" sz="9696" b="1" spc="-223" dirty="0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618</Words>
  <Application>Microsoft Office PowerPoint</Application>
  <PresentationFormat>Custom</PresentationFormat>
  <Paragraphs>160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Montserrat</vt:lpstr>
      <vt:lpstr>Barlow Condensed Semi-Bold</vt:lpstr>
      <vt:lpstr>Montserrat Bold</vt:lpstr>
      <vt:lpstr>Lora Bold</vt:lpstr>
      <vt:lpstr>Barlow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creator>mohamed ّrabia fathi</dc:creator>
  <cp:lastModifiedBy>mohamed ّrabia fathi</cp:lastModifiedBy>
  <cp:revision>4</cp:revision>
  <dcterms:created xsi:type="dcterms:W3CDTF">2006-08-16T00:00:00Z</dcterms:created>
  <dcterms:modified xsi:type="dcterms:W3CDTF">2025-11-30T20:14:13Z</dcterms:modified>
  <dc:identifier>DAG6Miwlojc</dc:identifier>
</cp:coreProperties>
</file>